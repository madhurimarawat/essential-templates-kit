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63" r:id="rId3"/>
    <p:sldId id="258" r:id="rId4"/>
    <p:sldId id="256" r:id="rId5"/>
    <p:sldId id="262" r:id="rId6"/>
    <p:sldId id="261" r:id="rId7"/>
    <p:sldId id="264" r:id="rId8"/>
    <p:sldId id="265" r:id="rId9"/>
    <p:sldId id="266" r:id="rId10"/>
    <p:sldId id="260" r:id="rId11"/>
    <p:sldId id="25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837BFD-A2EE-45F0-969E-A76E56B3C86F}" type="doc">
      <dgm:prSet loTypeId="urn:microsoft.com/office/officeart/2005/8/layout/vList2" loCatId="list" qsTypeId="urn:microsoft.com/office/officeart/2005/8/quickstyle/simple3" qsCatId="simple" csTypeId="urn:microsoft.com/office/officeart/2005/8/colors/colorful4" csCatId="colorful" phldr="1"/>
      <dgm:spPr/>
      <dgm:t>
        <a:bodyPr/>
        <a:lstStyle/>
        <a:p>
          <a:endParaRPr lang="en-IN"/>
        </a:p>
      </dgm:t>
    </dgm:pt>
    <dgm:pt modelId="{BE1F029E-B0B5-43A4-8EE8-C08B14BAB5CA}">
      <dgm:prSet/>
      <dgm:spPr/>
      <dgm:t>
        <a:bodyPr/>
        <a:lstStyle/>
        <a:p>
          <a:pPr algn="just"/>
          <a:r>
            <a:rPr lang="en-US" dirty="0"/>
            <a:t>So, the previous system is really good for photocopies and other medical bills and documents. For original documents, use a file with plastic sleeves and keep all your nursery </a:t>
          </a:r>
          <a:r>
            <a:rPr lang="en-US" b="1" dirty="0"/>
            <a:t>to </a:t>
          </a:r>
          <a:r>
            <a:rPr lang="en-US" b="1" dirty="0" err="1"/>
            <a:t>B.Tech</a:t>
          </a:r>
          <a:r>
            <a:rPr lang="en-US" b="1" dirty="0"/>
            <a:t>/</a:t>
          </a:r>
          <a:r>
            <a:rPr lang="en-US" b="1" dirty="0" err="1"/>
            <a:t>M.Tech</a:t>
          </a:r>
          <a:r>
            <a:rPr lang="en-US" b="1" dirty="0"/>
            <a:t> (or any degree) documents </a:t>
          </a:r>
          <a:r>
            <a:rPr lang="en-US" dirty="0"/>
            <a:t>in one file. Keep your cards and passport size photos in a separate card holder to easily find them.</a:t>
          </a:r>
          <a:endParaRPr lang="en-IN" dirty="0"/>
        </a:p>
      </dgm:t>
    </dgm:pt>
    <dgm:pt modelId="{179977FB-50DA-4163-9D9A-AB841A300923}" type="parTrans" cxnId="{864BAD44-6DAC-4AF8-A0B9-A6E0B8E5AEF7}">
      <dgm:prSet/>
      <dgm:spPr/>
      <dgm:t>
        <a:bodyPr/>
        <a:lstStyle/>
        <a:p>
          <a:endParaRPr lang="en-IN"/>
        </a:p>
      </dgm:t>
    </dgm:pt>
    <dgm:pt modelId="{404EB24B-D3FB-4F8E-A41C-F4F61A91F099}" type="sibTrans" cxnId="{864BAD44-6DAC-4AF8-A0B9-A6E0B8E5AEF7}">
      <dgm:prSet/>
      <dgm:spPr/>
      <dgm:t>
        <a:bodyPr/>
        <a:lstStyle/>
        <a:p>
          <a:endParaRPr lang="en-IN"/>
        </a:p>
      </dgm:t>
    </dgm:pt>
    <dgm:pt modelId="{6ABE5FDD-EFC7-4D6D-92B1-78AD61495232}">
      <dgm:prSet/>
      <dgm:spPr/>
      <dgm:t>
        <a:bodyPr/>
        <a:lstStyle/>
        <a:p>
          <a:pPr algn="just"/>
          <a:r>
            <a:rPr lang="en-US"/>
            <a:t>This should be done as the originals are rarely required and need to be preserved, so keep them in a separate file.</a:t>
          </a:r>
          <a:endParaRPr lang="en-IN"/>
        </a:p>
      </dgm:t>
    </dgm:pt>
    <dgm:pt modelId="{8C272D3C-A7DA-461C-A605-0F9E13ABF43C}" type="parTrans" cxnId="{D0593640-3E63-4504-98BB-83A5C06FE715}">
      <dgm:prSet/>
      <dgm:spPr/>
      <dgm:t>
        <a:bodyPr/>
        <a:lstStyle/>
        <a:p>
          <a:endParaRPr lang="en-IN"/>
        </a:p>
      </dgm:t>
    </dgm:pt>
    <dgm:pt modelId="{DEE6985A-CBFD-454F-BDD3-3FBEB7850F40}" type="sibTrans" cxnId="{D0593640-3E63-4504-98BB-83A5C06FE715}">
      <dgm:prSet/>
      <dgm:spPr/>
      <dgm:t>
        <a:bodyPr/>
        <a:lstStyle/>
        <a:p>
          <a:endParaRPr lang="en-IN"/>
        </a:p>
      </dgm:t>
    </dgm:pt>
    <dgm:pt modelId="{8403AA80-D7AE-48D7-A916-20AD05E183A7}">
      <dgm:prSet/>
      <dgm:spPr/>
      <dgm:t>
        <a:bodyPr/>
        <a:lstStyle/>
        <a:p>
          <a:pPr algn="just"/>
          <a:r>
            <a:rPr lang="en-US" dirty="0"/>
            <a:t>Keep a second file for your office documents like offer letters, salary slips, and tax returns. Once they are old, keep them in an archive or a separate folder.</a:t>
          </a:r>
          <a:endParaRPr lang="en-IN" dirty="0"/>
        </a:p>
      </dgm:t>
    </dgm:pt>
    <dgm:pt modelId="{EA8C38CD-19F0-41F9-92FB-311261397D27}" type="parTrans" cxnId="{91282894-B198-41BF-A536-185F4AC55331}">
      <dgm:prSet/>
      <dgm:spPr/>
      <dgm:t>
        <a:bodyPr/>
        <a:lstStyle/>
        <a:p>
          <a:endParaRPr lang="en-IN"/>
        </a:p>
      </dgm:t>
    </dgm:pt>
    <dgm:pt modelId="{F6DB6090-8FB4-44B9-88DF-265B449C8D39}" type="sibTrans" cxnId="{91282894-B198-41BF-A536-185F4AC55331}">
      <dgm:prSet/>
      <dgm:spPr/>
      <dgm:t>
        <a:bodyPr/>
        <a:lstStyle/>
        <a:p>
          <a:endParaRPr lang="en-IN"/>
        </a:p>
      </dgm:t>
    </dgm:pt>
    <dgm:pt modelId="{AF307E46-59B6-4E56-A427-182BCB4B8DBF}">
      <dgm:prSet/>
      <dgm:spPr/>
      <dgm:t>
        <a:bodyPr/>
        <a:lstStyle/>
        <a:p>
          <a:pPr algn="just"/>
          <a:r>
            <a:rPr lang="en-US" b="1"/>
            <a:t>Declutter: </a:t>
          </a:r>
          <a:r>
            <a:rPr lang="en-US"/>
            <a:t>The archive folder should be cleaned once in a year or two, remove documents you will not need.</a:t>
          </a:r>
          <a:endParaRPr lang="en-IN"/>
        </a:p>
      </dgm:t>
    </dgm:pt>
    <dgm:pt modelId="{64C7733A-8B61-438B-89F1-A1F8D6CF1325}" type="parTrans" cxnId="{530FCAE1-6F36-4D4B-9164-2E65C95A0894}">
      <dgm:prSet/>
      <dgm:spPr/>
      <dgm:t>
        <a:bodyPr/>
        <a:lstStyle/>
        <a:p>
          <a:endParaRPr lang="en-IN"/>
        </a:p>
      </dgm:t>
    </dgm:pt>
    <dgm:pt modelId="{5B254FB7-122D-4EFD-A5B4-0C8B87C8FB57}" type="sibTrans" cxnId="{530FCAE1-6F36-4D4B-9164-2E65C95A0894}">
      <dgm:prSet/>
      <dgm:spPr/>
      <dgm:t>
        <a:bodyPr/>
        <a:lstStyle/>
        <a:p>
          <a:endParaRPr lang="en-IN"/>
        </a:p>
      </dgm:t>
    </dgm:pt>
    <dgm:pt modelId="{299165DF-A624-4FB6-9A01-B6AAD3F1D33A}">
      <dgm:prSet/>
      <dgm:spPr/>
      <dgm:t>
        <a:bodyPr/>
        <a:lstStyle/>
        <a:p>
          <a:pPr algn="just"/>
          <a:r>
            <a:rPr lang="en-US" dirty="0"/>
            <a:t>Also keep an expandable accordion folder (plastic folder with sections) for document verification. Keep required documents in it and take it for DV; once done, keep them back in the files.</a:t>
          </a:r>
          <a:endParaRPr lang="en-IN" dirty="0"/>
        </a:p>
      </dgm:t>
    </dgm:pt>
    <dgm:pt modelId="{A9833033-E509-4443-8D4B-26F43BE43666}" type="parTrans" cxnId="{801F98E0-A2E4-4E16-8EC5-5889871145FE}">
      <dgm:prSet/>
      <dgm:spPr/>
      <dgm:t>
        <a:bodyPr/>
        <a:lstStyle/>
        <a:p>
          <a:endParaRPr lang="en-IN"/>
        </a:p>
      </dgm:t>
    </dgm:pt>
    <dgm:pt modelId="{C525E650-00A5-4819-A382-9D8263B44269}" type="sibTrans" cxnId="{801F98E0-A2E4-4E16-8EC5-5889871145FE}">
      <dgm:prSet/>
      <dgm:spPr/>
      <dgm:t>
        <a:bodyPr/>
        <a:lstStyle/>
        <a:p>
          <a:endParaRPr lang="en-IN"/>
        </a:p>
      </dgm:t>
    </dgm:pt>
    <dgm:pt modelId="{EC528761-BC94-456C-82C2-00049C498AF8}" type="pres">
      <dgm:prSet presAssocID="{5D837BFD-A2EE-45F0-969E-A76E56B3C86F}" presName="linear" presStyleCnt="0">
        <dgm:presLayoutVars>
          <dgm:animLvl val="lvl"/>
          <dgm:resizeHandles val="exact"/>
        </dgm:presLayoutVars>
      </dgm:prSet>
      <dgm:spPr/>
    </dgm:pt>
    <dgm:pt modelId="{08F93E94-450A-40BD-8E95-3771F71BB07F}" type="pres">
      <dgm:prSet presAssocID="{BE1F029E-B0B5-43A4-8EE8-C08B14BAB5CA}" presName="parentText" presStyleLbl="node1" presStyleIdx="0" presStyleCnt="5">
        <dgm:presLayoutVars>
          <dgm:chMax val="0"/>
          <dgm:bulletEnabled val="1"/>
        </dgm:presLayoutVars>
      </dgm:prSet>
      <dgm:spPr/>
    </dgm:pt>
    <dgm:pt modelId="{665B63FC-4AC7-4268-879F-70AC58ADC6CF}" type="pres">
      <dgm:prSet presAssocID="{404EB24B-D3FB-4F8E-A41C-F4F61A91F099}" presName="spacer" presStyleCnt="0"/>
      <dgm:spPr/>
    </dgm:pt>
    <dgm:pt modelId="{BE617604-3B62-4F2E-8233-CB2B04A5232F}" type="pres">
      <dgm:prSet presAssocID="{6ABE5FDD-EFC7-4D6D-92B1-78AD61495232}" presName="parentText" presStyleLbl="node1" presStyleIdx="1" presStyleCnt="5">
        <dgm:presLayoutVars>
          <dgm:chMax val="0"/>
          <dgm:bulletEnabled val="1"/>
        </dgm:presLayoutVars>
      </dgm:prSet>
      <dgm:spPr/>
    </dgm:pt>
    <dgm:pt modelId="{D00B0B71-4B70-414B-8F65-74ACFACBDC54}" type="pres">
      <dgm:prSet presAssocID="{DEE6985A-CBFD-454F-BDD3-3FBEB7850F40}" presName="spacer" presStyleCnt="0"/>
      <dgm:spPr/>
    </dgm:pt>
    <dgm:pt modelId="{481AD7C8-FFDA-46B3-AD74-4616714810EE}" type="pres">
      <dgm:prSet presAssocID="{8403AA80-D7AE-48D7-A916-20AD05E183A7}" presName="parentText" presStyleLbl="node1" presStyleIdx="2" presStyleCnt="5">
        <dgm:presLayoutVars>
          <dgm:chMax val="0"/>
          <dgm:bulletEnabled val="1"/>
        </dgm:presLayoutVars>
      </dgm:prSet>
      <dgm:spPr/>
    </dgm:pt>
    <dgm:pt modelId="{FE7DFA83-E640-41A8-887C-481A66A614C6}" type="pres">
      <dgm:prSet presAssocID="{F6DB6090-8FB4-44B9-88DF-265B449C8D39}" presName="spacer" presStyleCnt="0"/>
      <dgm:spPr/>
    </dgm:pt>
    <dgm:pt modelId="{BEF84F43-432E-45BB-8380-80283FAD0D1E}" type="pres">
      <dgm:prSet presAssocID="{AF307E46-59B6-4E56-A427-182BCB4B8DBF}" presName="parentText" presStyleLbl="node1" presStyleIdx="3" presStyleCnt="5">
        <dgm:presLayoutVars>
          <dgm:chMax val="0"/>
          <dgm:bulletEnabled val="1"/>
        </dgm:presLayoutVars>
      </dgm:prSet>
      <dgm:spPr/>
    </dgm:pt>
    <dgm:pt modelId="{3C28BE51-A6A6-4025-B2D9-9660EF3694E2}" type="pres">
      <dgm:prSet presAssocID="{5B254FB7-122D-4EFD-A5B4-0C8B87C8FB57}" presName="spacer" presStyleCnt="0"/>
      <dgm:spPr/>
    </dgm:pt>
    <dgm:pt modelId="{D171A018-FE54-45C5-AD28-678D857C8545}" type="pres">
      <dgm:prSet presAssocID="{299165DF-A624-4FB6-9A01-B6AAD3F1D33A}" presName="parentText" presStyleLbl="node1" presStyleIdx="4" presStyleCnt="5">
        <dgm:presLayoutVars>
          <dgm:chMax val="0"/>
          <dgm:bulletEnabled val="1"/>
        </dgm:presLayoutVars>
      </dgm:prSet>
      <dgm:spPr/>
    </dgm:pt>
  </dgm:ptLst>
  <dgm:cxnLst>
    <dgm:cxn modelId="{D0593640-3E63-4504-98BB-83A5C06FE715}" srcId="{5D837BFD-A2EE-45F0-969E-A76E56B3C86F}" destId="{6ABE5FDD-EFC7-4D6D-92B1-78AD61495232}" srcOrd="1" destOrd="0" parTransId="{8C272D3C-A7DA-461C-A605-0F9E13ABF43C}" sibTransId="{DEE6985A-CBFD-454F-BDD3-3FBEB7850F40}"/>
    <dgm:cxn modelId="{864BAD44-6DAC-4AF8-A0B9-A6E0B8E5AEF7}" srcId="{5D837BFD-A2EE-45F0-969E-A76E56B3C86F}" destId="{BE1F029E-B0B5-43A4-8EE8-C08B14BAB5CA}" srcOrd="0" destOrd="0" parTransId="{179977FB-50DA-4163-9D9A-AB841A300923}" sibTransId="{404EB24B-D3FB-4F8E-A41C-F4F61A91F099}"/>
    <dgm:cxn modelId="{5F77EB89-F3CC-47A2-AEC4-C97B493681E9}" type="presOf" srcId="{BE1F029E-B0B5-43A4-8EE8-C08B14BAB5CA}" destId="{08F93E94-450A-40BD-8E95-3771F71BB07F}" srcOrd="0" destOrd="0" presId="urn:microsoft.com/office/officeart/2005/8/layout/vList2"/>
    <dgm:cxn modelId="{91282894-B198-41BF-A536-185F4AC55331}" srcId="{5D837BFD-A2EE-45F0-969E-A76E56B3C86F}" destId="{8403AA80-D7AE-48D7-A916-20AD05E183A7}" srcOrd="2" destOrd="0" parTransId="{EA8C38CD-19F0-41F9-92FB-311261397D27}" sibTransId="{F6DB6090-8FB4-44B9-88DF-265B449C8D39}"/>
    <dgm:cxn modelId="{3EC161AE-A22E-46ED-8A71-871EFA31ECE6}" type="presOf" srcId="{299165DF-A624-4FB6-9A01-B6AAD3F1D33A}" destId="{D171A018-FE54-45C5-AD28-678D857C8545}" srcOrd="0" destOrd="0" presId="urn:microsoft.com/office/officeart/2005/8/layout/vList2"/>
    <dgm:cxn modelId="{9185A3B3-4759-49BD-97B1-8F2B1CD0A2BD}" type="presOf" srcId="{5D837BFD-A2EE-45F0-969E-A76E56B3C86F}" destId="{EC528761-BC94-456C-82C2-00049C498AF8}" srcOrd="0" destOrd="0" presId="urn:microsoft.com/office/officeart/2005/8/layout/vList2"/>
    <dgm:cxn modelId="{12185BCF-D577-4D5E-ACF5-8ED3261030AC}" type="presOf" srcId="{6ABE5FDD-EFC7-4D6D-92B1-78AD61495232}" destId="{BE617604-3B62-4F2E-8233-CB2B04A5232F}" srcOrd="0" destOrd="0" presId="urn:microsoft.com/office/officeart/2005/8/layout/vList2"/>
    <dgm:cxn modelId="{FC514DD6-D3C6-4A68-982A-F6D2135796E9}" type="presOf" srcId="{AF307E46-59B6-4E56-A427-182BCB4B8DBF}" destId="{BEF84F43-432E-45BB-8380-80283FAD0D1E}" srcOrd="0" destOrd="0" presId="urn:microsoft.com/office/officeart/2005/8/layout/vList2"/>
    <dgm:cxn modelId="{801F98E0-A2E4-4E16-8EC5-5889871145FE}" srcId="{5D837BFD-A2EE-45F0-969E-A76E56B3C86F}" destId="{299165DF-A624-4FB6-9A01-B6AAD3F1D33A}" srcOrd="4" destOrd="0" parTransId="{A9833033-E509-4443-8D4B-26F43BE43666}" sibTransId="{C525E650-00A5-4819-A382-9D8263B44269}"/>
    <dgm:cxn modelId="{530FCAE1-6F36-4D4B-9164-2E65C95A0894}" srcId="{5D837BFD-A2EE-45F0-969E-A76E56B3C86F}" destId="{AF307E46-59B6-4E56-A427-182BCB4B8DBF}" srcOrd="3" destOrd="0" parTransId="{64C7733A-8B61-438B-89F1-A1F8D6CF1325}" sibTransId="{5B254FB7-122D-4EFD-A5B4-0C8B87C8FB57}"/>
    <dgm:cxn modelId="{E1240FFA-AF97-40BD-AD30-4949E522B895}" type="presOf" srcId="{8403AA80-D7AE-48D7-A916-20AD05E183A7}" destId="{481AD7C8-FFDA-46B3-AD74-4616714810EE}" srcOrd="0" destOrd="0" presId="urn:microsoft.com/office/officeart/2005/8/layout/vList2"/>
    <dgm:cxn modelId="{ACE2EBE7-DD37-4B04-B951-43ABC95C7542}" type="presParOf" srcId="{EC528761-BC94-456C-82C2-00049C498AF8}" destId="{08F93E94-450A-40BD-8E95-3771F71BB07F}" srcOrd="0" destOrd="0" presId="urn:microsoft.com/office/officeart/2005/8/layout/vList2"/>
    <dgm:cxn modelId="{4C6EDE52-2F06-41A8-9D57-51874F5FD678}" type="presParOf" srcId="{EC528761-BC94-456C-82C2-00049C498AF8}" destId="{665B63FC-4AC7-4268-879F-70AC58ADC6CF}" srcOrd="1" destOrd="0" presId="urn:microsoft.com/office/officeart/2005/8/layout/vList2"/>
    <dgm:cxn modelId="{03C72F20-C11D-433B-BEE6-8CE03E9DBBF8}" type="presParOf" srcId="{EC528761-BC94-456C-82C2-00049C498AF8}" destId="{BE617604-3B62-4F2E-8233-CB2B04A5232F}" srcOrd="2" destOrd="0" presId="urn:microsoft.com/office/officeart/2005/8/layout/vList2"/>
    <dgm:cxn modelId="{94245B2C-540D-44E3-BFDC-62F7FFED7E40}" type="presParOf" srcId="{EC528761-BC94-456C-82C2-00049C498AF8}" destId="{D00B0B71-4B70-414B-8F65-74ACFACBDC54}" srcOrd="3" destOrd="0" presId="urn:microsoft.com/office/officeart/2005/8/layout/vList2"/>
    <dgm:cxn modelId="{125AF3B1-9DEB-41AE-ACF0-5DADA19EBB6D}" type="presParOf" srcId="{EC528761-BC94-456C-82C2-00049C498AF8}" destId="{481AD7C8-FFDA-46B3-AD74-4616714810EE}" srcOrd="4" destOrd="0" presId="urn:microsoft.com/office/officeart/2005/8/layout/vList2"/>
    <dgm:cxn modelId="{7BB747EA-A57C-4919-9621-4AB627A95291}" type="presParOf" srcId="{EC528761-BC94-456C-82C2-00049C498AF8}" destId="{FE7DFA83-E640-41A8-887C-481A66A614C6}" srcOrd="5" destOrd="0" presId="urn:microsoft.com/office/officeart/2005/8/layout/vList2"/>
    <dgm:cxn modelId="{DE04B8F5-504D-421C-A181-39E77F688F66}" type="presParOf" srcId="{EC528761-BC94-456C-82C2-00049C498AF8}" destId="{BEF84F43-432E-45BB-8380-80283FAD0D1E}" srcOrd="6" destOrd="0" presId="urn:microsoft.com/office/officeart/2005/8/layout/vList2"/>
    <dgm:cxn modelId="{13490393-A0A3-481C-92D8-6AAD84F05CFD}" type="presParOf" srcId="{EC528761-BC94-456C-82C2-00049C498AF8}" destId="{3C28BE51-A6A6-4025-B2D9-9660EF3694E2}" srcOrd="7" destOrd="0" presId="urn:microsoft.com/office/officeart/2005/8/layout/vList2"/>
    <dgm:cxn modelId="{DB8B3A7F-B9C9-4519-A647-84F913BCFF4D}" type="presParOf" srcId="{EC528761-BC94-456C-82C2-00049C498AF8}" destId="{D171A018-FE54-45C5-AD28-678D857C854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F93E94-450A-40BD-8E95-3771F71BB07F}">
      <dsp:nvSpPr>
        <dsp:cNvPr id="0" name=""/>
        <dsp:cNvSpPr/>
      </dsp:nvSpPr>
      <dsp:spPr>
        <a:xfrm>
          <a:off x="0" y="67969"/>
          <a:ext cx="11702265" cy="104480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dirty="0"/>
            <a:t>So, the previous system is really good for photocopies and other medical bills and documents. For original documents, use a file with plastic sleeves and keep all your nursery </a:t>
          </a:r>
          <a:r>
            <a:rPr lang="en-US" sz="1900" b="1" kern="1200" dirty="0"/>
            <a:t>to </a:t>
          </a:r>
          <a:r>
            <a:rPr lang="en-US" sz="1900" b="1" kern="1200" dirty="0" err="1"/>
            <a:t>B.Tech</a:t>
          </a:r>
          <a:r>
            <a:rPr lang="en-US" sz="1900" b="1" kern="1200" dirty="0"/>
            <a:t>/</a:t>
          </a:r>
          <a:r>
            <a:rPr lang="en-US" sz="1900" b="1" kern="1200" dirty="0" err="1"/>
            <a:t>M.Tech</a:t>
          </a:r>
          <a:r>
            <a:rPr lang="en-US" sz="1900" b="1" kern="1200" dirty="0"/>
            <a:t> (or any degree) documents </a:t>
          </a:r>
          <a:r>
            <a:rPr lang="en-US" sz="1900" kern="1200" dirty="0"/>
            <a:t>in one file. Keep your cards and passport size photos in a separate card holder to easily find them.</a:t>
          </a:r>
          <a:endParaRPr lang="en-IN" sz="1900" kern="1200" dirty="0"/>
        </a:p>
      </dsp:txBody>
      <dsp:txXfrm>
        <a:off x="51003" y="118972"/>
        <a:ext cx="11600259" cy="942803"/>
      </dsp:txXfrm>
    </dsp:sp>
    <dsp:sp modelId="{BE617604-3B62-4F2E-8233-CB2B04A5232F}">
      <dsp:nvSpPr>
        <dsp:cNvPr id="0" name=""/>
        <dsp:cNvSpPr/>
      </dsp:nvSpPr>
      <dsp:spPr>
        <a:xfrm>
          <a:off x="0" y="1167499"/>
          <a:ext cx="11702265" cy="1044809"/>
        </a:xfrm>
        <a:prstGeom prst="roundRect">
          <a:avLst/>
        </a:prstGeom>
        <a:gradFill rotWithShape="0">
          <a:gsLst>
            <a:gs pos="0">
              <a:schemeClr val="accent4">
                <a:hueOff val="2450223"/>
                <a:satOff val="-10194"/>
                <a:lumOff val="2402"/>
                <a:alphaOff val="0"/>
                <a:lumMod val="110000"/>
                <a:satMod val="105000"/>
                <a:tint val="67000"/>
              </a:schemeClr>
            </a:gs>
            <a:gs pos="50000">
              <a:schemeClr val="accent4">
                <a:hueOff val="2450223"/>
                <a:satOff val="-10194"/>
                <a:lumOff val="2402"/>
                <a:alphaOff val="0"/>
                <a:lumMod val="105000"/>
                <a:satMod val="103000"/>
                <a:tint val="73000"/>
              </a:schemeClr>
            </a:gs>
            <a:gs pos="100000">
              <a:schemeClr val="accent4">
                <a:hueOff val="2450223"/>
                <a:satOff val="-10194"/>
                <a:lumOff val="240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a:t>This should be done as the originals are rarely required and need to be preserved, so keep them in a separate file.</a:t>
          </a:r>
          <a:endParaRPr lang="en-IN" sz="1900" kern="1200"/>
        </a:p>
      </dsp:txBody>
      <dsp:txXfrm>
        <a:off x="51003" y="1218502"/>
        <a:ext cx="11600259" cy="942803"/>
      </dsp:txXfrm>
    </dsp:sp>
    <dsp:sp modelId="{481AD7C8-FFDA-46B3-AD74-4616714810EE}">
      <dsp:nvSpPr>
        <dsp:cNvPr id="0" name=""/>
        <dsp:cNvSpPr/>
      </dsp:nvSpPr>
      <dsp:spPr>
        <a:xfrm>
          <a:off x="0" y="2267029"/>
          <a:ext cx="11702265" cy="1044809"/>
        </a:xfrm>
        <a:prstGeom prst="roundRect">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dirty="0"/>
            <a:t>Keep a second file for your office documents like offer letters, salary slips, and tax returns. Once they are old, keep them in an archive or a separate folder.</a:t>
          </a:r>
          <a:endParaRPr lang="en-IN" sz="1900" kern="1200" dirty="0"/>
        </a:p>
      </dsp:txBody>
      <dsp:txXfrm>
        <a:off x="51003" y="2318032"/>
        <a:ext cx="11600259" cy="942803"/>
      </dsp:txXfrm>
    </dsp:sp>
    <dsp:sp modelId="{BEF84F43-432E-45BB-8380-80283FAD0D1E}">
      <dsp:nvSpPr>
        <dsp:cNvPr id="0" name=""/>
        <dsp:cNvSpPr/>
      </dsp:nvSpPr>
      <dsp:spPr>
        <a:xfrm>
          <a:off x="0" y="3366559"/>
          <a:ext cx="11702265" cy="1044809"/>
        </a:xfrm>
        <a:prstGeom prst="roundRect">
          <a:avLst/>
        </a:prstGeom>
        <a:gradFill rotWithShape="0">
          <a:gsLst>
            <a:gs pos="0">
              <a:schemeClr val="accent4">
                <a:hueOff val="7350668"/>
                <a:satOff val="-30583"/>
                <a:lumOff val="7206"/>
                <a:alphaOff val="0"/>
                <a:lumMod val="110000"/>
                <a:satMod val="105000"/>
                <a:tint val="67000"/>
              </a:schemeClr>
            </a:gs>
            <a:gs pos="50000">
              <a:schemeClr val="accent4">
                <a:hueOff val="7350668"/>
                <a:satOff val="-30583"/>
                <a:lumOff val="7206"/>
                <a:alphaOff val="0"/>
                <a:lumMod val="105000"/>
                <a:satMod val="103000"/>
                <a:tint val="73000"/>
              </a:schemeClr>
            </a:gs>
            <a:gs pos="100000">
              <a:schemeClr val="accent4">
                <a:hueOff val="7350668"/>
                <a:satOff val="-30583"/>
                <a:lumOff val="72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b="1" kern="1200"/>
            <a:t>Declutter: </a:t>
          </a:r>
          <a:r>
            <a:rPr lang="en-US" sz="1900" kern="1200"/>
            <a:t>The archive folder should be cleaned once in a year or two, remove documents you will not need.</a:t>
          </a:r>
          <a:endParaRPr lang="en-IN" sz="1900" kern="1200"/>
        </a:p>
      </dsp:txBody>
      <dsp:txXfrm>
        <a:off x="51003" y="3417562"/>
        <a:ext cx="11600259" cy="942803"/>
      </dsp:txXfrm>
    </dsp:sp>
    <dsp:sp modelId="{D171A018-FE54-45C5-AD28-678D857C8545}">
      <dsp:nvSpPr>
        <dsp:cNvPr id="0" name=""/>
        <dsp:cNvSpPr/>
      </dsp:nvSpPr>
      <dsp:spPr>
        <a:xfrm>
          <a:off x="0" y="4466088"/>
          <a:ext cx="11702265" cy="1044809"/>
        </a:xfrm>
        <a:prstGeom prst="roundRect">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just" defTabSz="844550">
            <a:lnSpc>
              <a:spcPct val="90000"/>
            </a:lnSpc>
            <a:spcBef>
              <a:spcPct val="0"/>
            </a:spcBef>
            <a:spcAft>
              <a:spcPct val="35000"/>
            </a:spcAft>
            <a:buNone/>
          </a:pPr>
          <a:r>
            <a:rPr lang="en-US" sz="1900" kern="1200" dirty="0"/>
            <a:t>Also keep an expandable accordion folder (plastic folder with sections) for document verification. Keep required documents in it and take it for DV; once done, keep them back in the files.</a:t>
          </a:r>
          <a:endParaRPr lang="en-IN" sz="1900" kern="1200" dirty="0"/>
        </a:p>
      </dsp:txBody>
      <dsp:txXfrm>
        <a:off x="51003" y="4517091"/>
        <a:ext cx="11600259" cy="94280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F0210C-1BDD-4952-85C7-BA7C0230B72A}" type="datetimeFigureOut">
              <a:rPr lang="en-IN" smtClean="0"/>
              <a:t>11-04-2026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0BDA52-C9E7-4CE6-9B74-6E265E77A78B}" type="slidenum">
              <a:rPr lang="en-IN" smtClean="0"/>
              <a:t>‹#›</a:t>
            </a:fld>
            <a:endParaRPr lang="en-IN"/>
          </a:p>
        </p:txBody>
      </p:sp>
    </p:spTree>
    <p:extLst>
      <p:ext uri="{BB962C8B-B14F-4D97-AF65-F5344CB8AC3E}">
        <p14:creationId xmlns:p14="http://schemas.microsoft.com/office/powerpoint/2010/main" val="65516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kept the icons and labels logical and consistent, you can cut and paste them, just make sure you use broad and wide cello tape so that the labels do not tear up. Also feel free to create your own sections and categories too. I have kept it black and white so that you can get it printed directly, it is also cost effective, and the icons would look really good in print, I have checked them myself when I got them printed.</a:t>
            </a:r>
          </a:p>
        </p:txBody>
      </p:sp>
      <p:sp>
        <p:nvSpPr>
          <p:cNvPr id="4" name="Slide Number Placeholder 3"/>
          <p:cNvSpPr>
            <a:spLocks noGrp="1"/>
          </p:cNvSpPr>
          <p:nvPr>
            <p:ph type="sldNum" sz="quarter" idx="5"/>
          </p:nvPr>
        </p:nvSpPr>
        <p:spPr/>
        <p:txBody>
          <a:bodyPr/>
          <a:lstStyle/>
          <a:p>
            <a:fld id="{CA0BDA52-C9E7-4CE6-9B74-6E265E77A78B}" type="slidenum">
              <a:rPr lang="en-IN" smtClean="0"/>
              <a:t>4</a:t>
            </a:fld>
            <a:endParaRPr lang="en-IN"/>
          </a:p>
        </p:txBody>
      </p:sp>
    </p:spTree>
    <p:extLst>
      <p:ext uri="{BB962C8B-B14F-4D97-AF65-F5344CB8AC3E}">
        <p14:creationId xmlns:p14="http://schemas.microsoft.com/office/powerpoint/2010/main" val="1576435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97A9-3D08-6994-874F-653C1E0AF07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F837F3F1-F890-CA83-FA2F-4E703D1FDA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D8B18E4C-4A66-BE3A-0186-0DE4E6B588C1}"/>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5" name="Footer Placeholder 4">
            <a:extLst>
              <a:ext uri="{FF2B5EF4-FFF2-40B4-BE49-F238E27FC236}">
                <a16:creationId xmlns:a16="http://schemas.microsoft.com/office/drawing/2014/main" id="{C0029E9A-E3C8-55B8-2B61-05E729C8E0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E774CE-BD43-EF19-4346-FB5D028CEA48}"/>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601267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8F6B1-3E3A-3AD5-C6FD-DB77DDDBEDF0}"/>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DF7AED4F-B658-2053-8F65-28953EDA016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6A062BC-66EF-4CFB-F7A0-338D58021749}"/>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5" name="Footer Placeholder 4">
            <a:extLst>
              <a:ext uri="{FF2B5EF4-FFF2-40B4-BE49-F238E27FC236}">
                <a16:creationId xmlns:a16="http://schemas.microsoft.com/office/drawing/2014/main" id="{270AA0D4-98E5-C41A-5C9A-EDDD4CA098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405FF4-B4D2-C16A-157C-8AF2C5ED5552}"/>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203532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8D2E-1ECF-59D3-89A0-DE75C57B971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C366C6A2-E998-164B-3C3A-F832B39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4C988B1-1C9D-6D5C-153C-153A51D5C5B5}"/>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5" name="Footer Placeholder 4">
            <a:extLst>
              <a:ext uri="{FF2B5EF4-FFF2-40B4-BE49-F238E27FC236}">
                <a16:creationId xmlns:a16="http://schemas.microsoft.com/office/drawing/2014/main" id="{905C9678-D7FE-EB4B-6760-A37173D69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4C8ED6-9559-3C4B-F5CD-70119239E940}"/>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668954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3C73-3BD3-71F0-A945-79A70736DF49}"/>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913C76C5-A31F-1AD3-F04C-4720A418EAA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0C66584F-F482-96A8-22D0-41D1D0891CA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FCF977B8-F614-9C38-96B6-24F5F74F7639}"/>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6" name="Footer Placeholder 5">
            <a:extLst>
              <a:ext uri="{FF2B5EF4-FFF2-40B4-BE49-F238E27FC236}">
                <a16:creationId xmlns:a16="http://schemas.microsoft.com/office/drawing/2014/main" id="{81E76E26-A4BD-A586-85AF-BD42DBEB6F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C0E3EE-E5FD-5AAE-5274-755F3F83D0E9}"/>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254956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B327B-D878-3866-81E4-0597C7EC078A}"/>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52EF8A54-89D7-64B3-0FED-7243277210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9668ECF-9693-72F8-86A5-C8A79BF484D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E2C2E727-9A20-EFE7-AA53-E1110A90A8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9E47DB8-D36D-3335-87C8-F91626F775F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F058E3C1-52A5-E8A0-82B0-E7C433C40E99}"/>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8" name="Footer Placeholder 7">
            <a:extLst>
              <a:ext uri="{FF2B5EF4-FFF2-40B4-BE49-F238E27FC236}">
                <a16:creationId xmlns:a16="http://schemas.microsoft.com/office/drawing/2014/main" id="{2709F9D8-6111-5BC4-81A7-7C28D630BA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76985A-5EC0-1552-443E-65B2EADC0D64}"/>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4211834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ADB0B-B33A-2EF3-00AF-79BFBFFFD579}"/>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9C73B9DC-2DE6-0FEC-69E9-F2194FBCFFE4}"/>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4" name="Footer Placeholder 3">
            <a:extLst>
              <a:ext uri="{FF2B5EF4-FFF2-40B4-BE49-F238E27FC236}">
                <a16:creationId xmlns:a16="http://schemas.microsoft.com/office/drawing/2014/main" id="{5CAA16EE-31DF-102A-7434-A284BECC8D1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FB9773-4775-B46E-7454-67962CA5FDB3}"/>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2853480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C779F7-FB86-2D2F-B027-37E5C381F25C}"/>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3" name="Footer Placeholder 2">
            <a:extLst>
              <a:ext uri="{FF2B5EF4-FFF2-40B4-BE49-F238E27FC236}">
                <a16:creationId xmlns:a16="http://schemas.microsoft.com/office/drawing/2014/main" id="{7A0CA509-FE9D-ED17-590E-1EC4E3C9EE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702CD5-5BC9-1491-9CDA-5FAD04F9C71D}"/>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857592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C614-F14B-3839-5D4A-51C3F2AC1AA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1C355AB9-1567-99C9-C90A-78C8A63109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0EB64251-6170-8FD6-BBFA-5C63B71A2A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7176DA9-D887-91F1-C00C-975494F3A734}"/>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6" name="Footer Placeholder 5">
            <a:extLst>
              <a:ext uri="{FF2B5EF4-FFF2-40B4-BE49-F238E27FC236}">
                <a16:creationId xmlns:a16="http://schemas.microsoft.com/office/drawing/2014/main" id="{E1E50D61-6D8A-D321-F657-01FF0994A0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41171B-4A72-86EA-6DAB-7A26FB4DCC5F}"/>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181676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DF990-3EA0-07E7-6F70-933B008D278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271187FC-9197-8117-C739-F867B81626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68EE304-EA9C-1CDD-044F-1026F1B8E5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9E9A47-4FE0-D891-5ACF-66DC60841AB0}"/>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6" name="Footer Placeholder 5">
            <a:extLst>
              <a:ext uri="{FF2B5EF4-FFF2-40B4-BE49-F238E27FC236}">
                <a16:creationId xmlns:a16="http://schemas.microsoft.com/office/drawing/2014/main" id="{9B853A68-9C4C-F192-E45B-BB5FBAFC44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2DD742-CF3E-8CB2-17D8-A72096B61A7C}"/>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3489916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2F1A5-9809-FA95-EF3C-7897C7D2440A}"/>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4AFE7409-45C3-E1AE-88C0-6CFCCEAB1FD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BA95C7DF-D566-AC8F-F1E4-E298B517479C}"/>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5" name="Footer Placeholder 4">
            <a:extLst>
              <a:ext uri="{FF2B5EF4-FFF2-40B4-BE49-F238E27FC236}">
                <a16:creationId xmlns:a16="http://schemas.microsoft.com/office/drawing/2014/main" id="{02B6FCAA-7409-8B70-5155-D99AE601C0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C45F5F-D931-F10F-FD49-A50BA2E21B1F}"/>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4030990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EE9FBE-C2A2-E55B-0D9C-6B593D7400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1180D54D-7A92-7312-0B6D-BE99FA29900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D4935320-A5B4-50BE-BC31-ADF77EBA359A}"/>
              </a:ext>
            </a:extLst>
          </p:cNvPr>
          <p:cNvSpPr>
            <a:spLocks noGrp="1"/>
          </p:cNvSpPr>
          <p:nvPr>
            <p:ph type="dt" sz="half" idx="10"/>
          </p:nvPr>
        </p:nvSpPr>
        <p:spPr/>
        <p:txBody>
          <a:bodyPr/>
          <a:lstStyle/>
          <a:p>
            <a:fld id="{A544FFC6-13CD-4522-9B98-D20659D3626D}" type="datetimeFigureOut">
              <a:rPr lang="en-IN" smtClean="0"/>
              <a:t>11-04-2026</a:t>
            </a:fld>
            <a:endParaRPr lang="en-IN"/>
          </a:p>
        </p:txBody>
      </p:sp>
      <p:sp>
        <p:nvSpPr>
          <p:cNvPr id="5" name="Footer Placeholder 4">
            <a:extLst>
              <a:ext uri="{FF2B5EF4-FFF2-40B4-BE49-F238E27FC236}">
                <a16:creationId xmlns:a16="http://schemas.microsoft.com/office/drawing/2014/main" id="{6E76714D-2E62-E5DC-67B5-C869DB8978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4B1C89-4F48-6879-CD6F-3411EE812E66}"/>
              </a:ext>
            </a:extLst>
          </p:cNvPr>
          <p:cNvSpPr>
            <a:spLocks noGrp="1"/>
          </p:cNvSpPr>
          <p:nvPr>
            <p:ph type="sldNum" sz="quarter" idx="12"/>
          </p:nvPr>
        </p:nvSpPr>
        <p:spPr/>
        <p:txBody>
          <a:bodyPr/>
          <a:lstStyle/>
          <a:p>
            <a:fld id="{4CB03103-C285-4D1C-8DEA-65AFB1A4E5F4}" type="slidenum">
              <a:rPr lang="en-IN" smtClean="0"/>
              <a:t>‹#›</a:t>
            </a:fld>
            <a:endParaRPr lang="en-IN"/>
          </a:p>
        </p:txBody>
      </p:sp>
    </p:spTree>
    <p:extLst>
      <p:ext uri="{BB962C8B-B14F-4D97-AF65-F5344CB8AC3E}">
        <p14:creationId xmlns:p14="http://schemas.microsoft.com/office/powerpoint/2010/main" val="1425725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1F1CB4-2A46-8395-17CF-C2ABDB554B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703C86BA-217F-1654-EDE7-566E231DDB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5FD5A7D-AB5F-E011-D227-B869FAF7F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44FFC6-13CD-4522-9B98-D20659D3626D}" type="datetimeFigureOut">
              <a:rPr lang="en-IN" smtClean="0"/>
              <a:t>11-04-2026</a:t>
            </a:fld>
            <a:endParaRPr lang="en-IN"/>
          </a:p>
        </p:txBody>
      </p:sp>
      <p:sp>
        <p:nvSpPr>
          <p:cNvPr id="5" name="Footer Placeholder 4">
            <a:extLst>
              <a:ext uri="{FF2B5EF4-FFF2-40B4-BE49-F238E27FC236}">
                <a16:creationId xmlns:a16="http://schemas.microsoft.com/office/drawing/2014/main" id="{7E81108E-CDD4-F8D3-09DC-292A9FE95F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786A54-B617-058D-08D4-AD51C29FC2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B03103-C285-4D1C-8DEA-65AFB1A4E5F4}" type="slidenum">
              <a:rPr lang="en-IN" smtClean="0"/>
              <a:t>‹#›</a:t>
            </a:fld>
            <a:endParaRPr lang="en-IN"/>
          </a:p>
        </p:txBody>
      </p:sp>
    </p:spTree>
    <p:extLst>
      <p:ext uri="{BB962C8B-B14F-4D97-AF65-F5344CB8AC3E}">
        <p14:creationId xmlns:p14="http://schemas.microsoft.com/office/powerpoint/2010/main" val="678504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slide" Target="slide6.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sv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32.sv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sv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29"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32" Type="http://schemas.openxmlformats.org/officeDocument/2006/relationships/image" Target="../media/image30.svg"/><Relationship Id="rId37" Type="http://schemas.openxmlformats.org/officeDocument/2006/relationships/image" Target="../media/image35.png"/><Relationship Id="rId40" Type="http://schemas.openxmlformats.org/officeDocument/2006/relationships/image" Target="../media/image38.sv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36" Type="http://schemas.openxmlformats.org/officeDocument/2006/relationships/image" Target="../media/image34.svg"/><Relationship Id="rId10" Type="http://schemas.openxmlformats.org/officeDocument/2006/relationships/image" Target="../media/image8.sv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png"/><Relationship Id="rId30" Type="http://schemas.openxmlformats.org/officeDocument/2006/relationships/image" Target="../media/image28.svg"/><Relationship Id="rId35" Type="http://schemas.openxmlformats.org/officeDocument/2006/relationships/image" Target="../media/image33.png"/><Relationship Id="rId8" Type="http://schemas.openxmlformats.org/officeDocument/2006/relationships/image" Target="../media/image6.sv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8" Type="http://schemas.openxmlformats.org/officeDocument/2006/relationships/hyperlink" Target="https://www.flipkart.com/maruhub-polypropylene-multi-layer-accordion-file-folder-hand-held-bag-a4-paper-13-pockets/p/itmba25a910c3085?pid=FAFH2ZB2GN6XKPGP" TargetMode="External"/><Relationship Id="rId3" Type="http://schemas.openxmlformats.org/officeDocument/2006/relationships/hyperlink" Target="https://www.linkedin.com/in/madhurima-rawat" TargetMode="External"/><Relationship Id="rId7" Type="http://schemas.openxmlformats.org/officeDocument/2006/relationships/hyperlink" Target="https://www.amazon.in/ojussa-Plastic-Wallets-Document-Supplies/dp/B0BG4Y2QGY" TargetMode="External"/><Relationship Id="rId2" Type="http://schemas.openxmlformats.org/officeDocument/2006/relationships/hyperlink" Target="mailto:rawatmadhurima4@gmail.com" TargetMode="External"/><Relationship Id="rId1" Type="http://schemas.openxmlformats.org/officeDocument/2006/relationships/slideLayout" Target="../slideLayouts/slideLayout7.xml"/><Relationship Id="rId6" Type="http://schemas.openxmlformats.org/officeDocument/2006/relationships/hyperlink" Target="https://www.flipkart.com/item/p/itmdd8483ca88cf7?pid=FAFGGGUHSE2FEJZM" TargetMode="External"/><Relationship Id="rId5" Type="http://schemas.openxmlformats.org/officeDocument/2006/relationships/hyperlink" Target="https://www.amazon.in/dp/B0C4FKHHVW" TargetMode="External"/><Relationship Id="rId10" Type="http://schemas.openxmlformats.org/officeDocument/2006/relationships/hyperlink" Target="https://github.com/madhurimarawat/Essential-Templates-Kit" TargetMode="External"/><Relationship Id="rId4" Type="http://schemas.openxmlformats.org/officeDocument/2006/relationships/hyperlink" Target="https://www.flipkart.com/eos-faux-leather-file-folder/p/itmb6a2cd019e163" TargetMode="External"/><Relationship Id="rId9" Type="http://schemas.openxmlformats.org/officeDocument/2006/relationships/hyperlink" Target="https://www.amazon.in/dp/B0DM9HJWH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8DE15-1CE7-0265-A83F-4F1932D0142D}"/>
              </a:ext>
            </a:extLst>
          </p:cNvPr>
          <p:cNvSpPr>
            <a:spLocks noGrp="1"/>
          </p:cNvSpPr>
          <p:nvPr>
            <p:ph type="ctrTitle"/>
          </p:nvPr>
        </p:nvSpPr>
        <p:spPr>
          <a:xfrm>
            <a:off x="503435" y="462338"/>
            <a:ext cx="11168008" cy="1753082"/>
          </a:xfrm>
        </p:spPr>
        <p:txBody>
          <a:bodyPr/>
          <a:lstStyle/>
          <a:p>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Document and Folder Organization</a:t>
            </a:r>
          </a:p>
        </p:txBody>
      </p:sp>
      <p:sp>
        <p:nvSpPr>
          <p:cNvPr id="3" name="Subtitle 2">
            <a:extLst>
              <a:ext uri="{FF2B5EF4-FFF2-40B4-BE49-F238E27FC236}">
                <a16:creationId xmlns:a16="http://schemas.microsoft.com/office/drawing/2014/main" id="{46A2DFF5-3DB5-6BEF-5082-191377D7F6AF}"/>
              </a:ext>
            </a:extLst>
          </p:cNvPr>
          <p:cNvSpPr>
            <a:spLocks noGrp="1"/>
          </p:cNvSpPr>
          <p:nvPr>
            <p:ph type="subTitle" idx="1"/>
          </p:nvPr>
        </p:nvSpPr>
        <p:spPr>
          <a:xfrm>
            <a:off x="1647290" y="5430838"/>
            <a:ext cx="9144000" cy="1655762"/>
          </a:xfrm>
        </p:spPr>
        <p:txBody>
          <a:bodyPr/>
          <a:lstStyle/>
          <a:p>
            <a:r>
              <a:rPr lang="en-IN" dirty="0"/>
              <a:t>By </a:t>
            </a:r>
          </a:p>
          <a:p>
            <a:r>
              <a:rPr lang="en-IN" sz="3000" b="1" dirty="0"/>
              <a:t>Madhurima Rawat</a:t>
            </a:r>
          </a:p>
        </p:txBody>
      </p:sp>
      <p:sp>
        <p:nvSpPr>
          <p:cNvPr id="4" name="TextBox 3">
            <a:extLst>
              <a:ext uri="{FF2B5EF4-FFF2-40B4-BE49-F238E27FC236}">
                <a16:creationId xmlns:a16="http://schemas.microsoft.com/office/drawing/2014/main" id="{1C4348F7-7819-DECF-A80A-95D7C7B3A8F6}"/>
              </a:ext>
            </a:extLst>
          </p:cNvPr>
          <p:cNvSpPr txBox="1"/>
          <p:nvPr/>
        </p:nvSpPr>
        <p:spPr>
          <a:xfrm>
            <a:off x="1541123" y="3390471"/>
            <a:ext cx="9688530" cy="954107"/>
          </a:xfrm>
          <a:prstGeom prst="rect">
            <a:avLst/>
          </a:prstGeom>
          <a:noFill/>
        </p:spPr>
        <p:txBody>
          <a:bodyPr wrap="square" rtlCol="0">
            <a:spAutoFit/>
          </a:bodyPr>
          <a:lstStyle/>
          <a:p>
            <a:pPr algn="ctr"/>
            <a:r>
              <a:rPr lang="en-US" sz="2800" dirty="0"/>
              <a:t>A complete guide with icons, structured labels, and practical tips for effective document organization.</a:t>
            </a:r>
            <a:endParaRPr lang="en-IN" sz="2800" dirty="0"/>
          </a:p>
        </p:txBody>
      </p:sp>
    </p:spTree>
    <p:extLst>
      <p:ext uri="{BB962C8B-B14F-4D97-AF65-F5344CB8AC3E}">
        <p14:creationId xmlns:p14="http://schemas.microsoft.com/office/powerpoint/2010/main" val="3339436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2D087-0005-51E2-58AC-92195E91F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87DF6-FC9E-1DC8-9B51-C17197700DC7}"/>
              </a:ext>
            </a:extLst>
          </p:cNvPr>
          <p:cNvSpPr>
            <a:spLocks noGrp="1"/>
          </p:cNvSpPr>
          <p:nvPr>
            <p:ph type="title"/>
          </p:nvPr>
        </p:nvSpPr>
        <p:spPr>
          <a:xfrm>
            <a:off x="848475" y="-148583"/>
            <a:ext cx="10515600" cy="1325563"/>
          </a:xfrm>
        </p:spPr>
        <p:txBody>
          <a:bodyPr/>
          <a:lstStyle/>
          <a:p>
            <a:pPr algn="ctr"/>
            <a:r>
              <a:rPr lang="en-IN" b="1" dirty="0"/>
              <a:t>Index of Slides</a:t>
            </a:r>
          </a:p>
        </p:txBody>
      </p:sp>
      <p:sp>
        <p:nvSpPr>
          <p:cNvPr id="3" name="Content Placeholder 2">
            <a:extLst>
              <a:ext uri="{FF2B5EF4-FFF2-40B4-BE49-F238E27FC236}">
                <a16:creationId xmlns:a16="http://schemas.microsoft.com/office/drawing/2014/main" id="{7BBC4E05-5865-6832-3676-D55387C20312}"/>
              </a:ext>
            </a:extLst>
          </p:cNvPr>
          <p:cNvSpPr>
            <a:spLocks noGrp="1"/>
          </p:cNvSpPr>
          <p:nvPr>
            <p:ph idx="1"/>
          </p:nvPr>
        </p:nvSpPr>
        <p:spPr>
          <a:xfrm>
            <a:off x="215757" y="1130157"/>
            <a:ext cx="11702265" cy="5578868"/>
          </a:xfrm>
        </p:spPr>
        <p:txBody>
          <a:bodyPr>
            <a:normAutofit/>
          </a:bodyPr>
          <a:lstStyle/>
          <a:p>
            <a:pPr marL="514350" indent="-514350" algn="just">
              <a:buFont typeface="+mj-lt"/>
              <a:buAutoNum type="arabicPeriod"/>
            </a:pPr>
            <a:r>
              <a:rPr lang="en-US" sz="3600" dirty="0">
                <a:hlinkClick r:id="rId2" action="ppaction://hlinksldjump"/>
              </a:rPr>
              <a:t>Icons and labels: </a:t>
            </a:r>
            <a:r>
              <a:rPr lang="en-US" sz="3600" dirty="0"/>
              <a:t>Description of the icons and labels</a:t>
            </a:r>
          </a:p>
          <a:p>
            <a:pPr marL="514350" indent="-514350" algn="just">
              <a:buFont typeface="+mj-lt"/>
              <a:buAutoNum type="arabicPeriod"/>
            </a:pPr>
            <a:r>
              <a:rPr lang="en-US" sz="3600" dirty="0">
                <a:hlinkClick r:id="rId3" action="ppaction://hlinksldjump"/>
              </a:rPr>
              <a:t>Icons and labels for printing: </a:t>
            </a:r>
            <a:r>
              <a:rPr lang="en-US" sz="3600" dirty="0"/>
              <a:t>Get this directly printed, cut and paste all icons at once so that it is cost-effective</a:t>
            </a:r>
          </a:p>
          <a:p>
            <a:pPr marL="514350" indent="-514350" algn="just">
              <a:buFont typeface="+mj-lt"/>
              <a:buAutoNum type="arabicPeriod"/>
            </a:pPr>
            <a:r>
              <a:rPr lang="en-US" sz="3600" dirty="0">
                <a:hlinkClick r:id="rId4" action="ppaction://hlinksldjump"/>
              </a:rPr>
              <a:t>Indexing:</a:t>
            </a:r>
            <a:r>
              <a:rPr lang="en-US" sz="3600" dirty="0"/>
              <a:t> Indexing your documents, folders, and files for effective organization</a:t>
            </a:r>
          </a:p>
          <a:p>
            <a:pPr marL="514350" indent="-514350" algn="just">
              <a:buFont typeface="+mj-lt"/>
              <a:buAutoNum type="arabicPeriod"/>
            </a:pPr>
            <a:r>
              <a:rPr lang="en-US" sz="3600" dirty="0">
                <a:hlinkClick r:id="rId5" action="ppaction://hlinksldjump"/>
              </a:rPr>
              <a:t>Most usage of a single folder: </a:t>
            </a:r>
            <a:r>
              <a:rPr lang="en-US" sz="3600" dirty="0"/>
              <a:t>Practical and useful tips on how to use chic button folders to their maximum potential</a:t>
            </a:r>
          </a:p>
          <a:p>
            <a:pPr marL="514350" indent="-514350" algn="just">
              <a:buFont typeface="+mj-lt"/>
              <a:buAutoNum type="arabicPeriod"/>
            </a:pPr>
            <a:r>
              <a:rPr lang="en-US" sz="3600" dirty="0">
                <a:hlinkClick r:id="rId6" action="ppaction://hlinksldjump"/>
              </a:rPr>
              <a:t>Original document organization</a:t>
            </a:r>
            <a:endParaRPr lang="en-US" sz="3600" dirty="0"/>
          </a:p>
          <a:p>
            <a:pPr marL="514350" indent="-514350" algn="just">
              <a:buFont typeface="+mj-lt"/>
              <a:buAutoNum type="arabicPeriod"/>
            </a:pPr>
            <a:r>
              <a:rPr lang="en-US" sz="3600" dirty="0">
                <a:hlinkClick r:id="rId7" action="ppaction://hlinksldjump"/>
              </a:rPr>
              <a:t>Product links</a:t>
            </a:r>
            <a:endParaRPr lang="en-US" sz="3600" dirty="0"/>
          </a:p>
        </p:txBody>
      </p:sp>
    </p:spTree>
    <p:extLst>
      <p:ext uri="{BB962C8B-B14F-4D97-AF65-F5344CB8AC3E}">
        <p14:creationId xmlns:p14="http://schemas.microsoft.com/office/powerpoint/2010/main" val="3755568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D09F1-4E5B-E9D8-0A84-18E9DB00C529}"/>
              </a:ext>
            </a:extLst>
          </p:cNvPr>
          <p:cNvSpPr>
            <a:spLocks noGrp="1"/>
          </p:cNvSpPr>
          <p:nvPr>
            <p:ph type="title"/>
          </p:nvPr>
        </p:nvSpPr>
        <p:spPr>
          <a:xfrm>
            <a:off x="848475" y="-148583"/>
            <a:ext cx="10515600" cy="1325563"/>
          </a:xfrm>
        </p:spPr>
        <p:txBody>
          <a:bodyPr/>
          <a:lstStyle/>
          <a:p>
            <a:pPr algn="ctr"/>
            <a:r>
              <a:rPr lang="en-IN" b="1" dirty="0"/>
              <a:t>Icons and Labels</a:t>
            </a:r>
          </a:p>
        </p:txBody>
      </p:sp>
      <p:sp>
        <p:nvSpPr>
          <p:cNvPr id="3" name="Content Placeholder 2">
            <a:extLst>
              <a:ext uri="{FF2B5EF4-FFF2-40B4-BE49-F238E27FC236}">
                <a16:creationId xmlns:a16="http://schemas.microsoft.com/office/drawing/2014/main" id="{23790B82-A407-2590-FA35-459A12EE727E}"/>
              </a:ext>
            </a:extLst>
          </p:cNvPr>
          <p:cNvSpPr>
            <a:spLocks noGrp="1"/>
          </p:cNvSpPr>
          <p:nvPr>
            <p:ph idx="1"/>
          </p:nvPr>
        </p:nvSpPr>
        <p:spPr>
          <a:xfrm>
            <a:off x="215757" y="1130157"/>
            <a:ext cx="11702265" cy="5578868"/>
          </a:xfrm>
        </p:spPr>
        <p:txBody>
          <a:bodyPr>
            <a:normAutofit fontScale="92500" lnSpcReduction="20000"/>
          </a:bodyPr>
          <a:lstStyle/>
          <a:p>
            <a:pPr marL="0" indent="0">
              <a:buNone/>
            </a:pPr>
            <a:r>
              <a:rPr lang="en-US" dirty="0"/>
              <a:t>Folders, such as chic button folders, zip folders, and files, often turn cluttered over time. So, this is a simple system to keep them organized:</a:t>
            </a:r>
          </a:p>
          <a:p>
            <a:pPr marL="0" indent="0">
              <a:buNone/>
            </a:pPr>
            <a:r>
              <a:rPr lang="en-US" b="1" dirty="0"/>
              <a:t>1. Sorting</a:t>
            </a:r>
          </a:p>
          <a:p>
            <a:r>
              <a:rPr lang="en-US" dirty="0"/>
              <a:t>Start by grouping your documents into clear categories (e.g., Identity, Academics, Medical, Finance).</a:t>
            </a:r>
          </a:p>
          <a:p>
            <a:pPr marL="0" indent="0">
              <a:buNone/>
            </a:pPr>
            <a:r>
              <a:rPr lang="en-US" b="1" dirty="0"/>
              <a:t>2. Labeling</a:t>
            </a:r>
          </a:p>
          <a:p>
            <a:r>
              <a:rPr lang="en-US" dirty="0"/>
              <a:t>Use labeled sections for each category. You can print the labels from the next slide, cut them, and paste them neatly onto your folders.</a:t>
            </a:r>
          </a:p>
          <a:p>
            <a:r>
              <a:rPr lang="en-US" dirty="0"/>
              <a:t>Tip: Use transparent tape broad and wide (cello tape) so labels can be easily removed or replaced, avoid permanent adhesives like </a:t>
            </a:r>
            <a:r>
              <a:rPr lang="en-US" dirty="0" err="1"/>
              <a:t>fevicol</a:t>
            </a:r>
            <a:r>
              <a:rPr lang="en-US" dirty="0"/>
              <a:t>.</a:t>
            </a:r>
          </a:p>
          <a:p>
            <a:pPr marL="0" indent="0">
              <a:buNone/>
            </a:pPr>
            <a:r>
              <a:rPr lang="en-US" b="1" dirty="0"/>
              <a:t>3. Ready-to-Use Folder</a:t>
            </a:r>
          </a:p>
          <a:p>
            <a:r>
              <a:rPr lang="en-US" dirty="0"/>
              <a:t>Keep one transparent folder for frequently used documents (e.g., exams, photocopy shop visits).</a:t>
            </a:r>
          </a:p>
          <a:p>
            <a:r>
              <a:rPr lang="en-US" dirty="0"/>
              <a:t>This folder should contain essential items and have your name and mobile number clearly labeled.</a:t>
            </a:r>
          </a:p>
        </p:txBody>
      </p:sp>
    </p:spTree>
    <p:extLst>
      <p:ext uri="{BB962C8B-B14F-4D97-AF65-F5344CB8AC3E}">
        <p14:creationId xmlns:p14="http://schemas.microsoft.com/office/powerpoint/2010/main" val="783240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A50090-E6D5-B3AD-2DD4-20D7740E1870}"/>
              </a:ext>
            </a:extLst>
          </p:cNvPr>
          <p:cNvSpPr txBox="1"/>
          <p:nvPr/>
        </p:nvSpPr>
        <p:spPr>
          <a:xfrm>
            <a:off x="955496" y="431515"/>
            <a:ext cx="5352836" cy="523220"/>
          </a:xfrm>
          <a:prstGeom prst="rect">
            <a:avLst/>
          </a:prstGeom>
          <a:noFill/>
          <a:ln>
            <a:noFill/>
          </a:ln>
        </p:spPr>
        <p:txBody>
          <a:bodyPr wrap="square" rtlCol="0">
            <a:spAutoFit/>
          </a:bodyPr>
          <a:lstStyle/>
          <a:p>
            <a:r>
              <a:rPr lang="en-IN" sz="2800" b="1" dirty="0">
                <a:latin typeface="Times New Roman" panose="02020603050405020304" pitchFamily="18" charset="0"/>
                <a:cs typeface="Times New Roman" panose="02020603050405020304" pitchFamily="18" charset="0"/>
              </a:rPr>
              <a:t>Identity and Licenses</a:t>
            </a:r>
          </a:p>
        </p:txBody>
      </p:sp>
      <p:pic>
        <p:nvPicPr>
          <p:cNvPr id="6" name="Graphic 5" descr="Employee badge">
            <a:extLst>
              <a:ext uri="{FF2B5EF4-FFF2-40B4-BE49-F238E27FC236}">
                <a16:creationId xmlns:a16="http://schemas.microsoft.com/office/drawing/2014/main" id="{0E0C56E9-AA52-7E72-239B-2A09257156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580" y="279971"/>
            <a:ext cx="737171" cy="737171"/>
          </a:xfrm>
          <a:prstGeom prst="rect">
            <a:avLst/>
          </a:prstGeom>
        </p:spPr>
      </p:pic>
      <p:sp>
        <p:nvSpPr>
          <p:cNvPr id="8" name="TextBox 7">
            <a:extLst>
              <a:ext uri="{FF2B5EF4-FFF2-40B4-BE49-F238E27FC236}">
                <a16:creationId xmlns:a16="http://schemas.microsoft.com/office/drawing/2014/main" id="{9A3CA101-4682-5D9F-4C17-32D54C3415E1}"/>
              </a:ext>
            </a:extLst>
          </p:cNvPr>
          <p:cNvSpPr txBox="1"/>
          <p:nvPr/>
        </p:nvSpPr>
        <p:spPr>
          <a:xfrm>
            <a:off x="5432459" y="472880"/>
            <a:ext cx="609771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Academic Results</a:t>
            </a:r>
            <a:endParaRPr lang="en-IN" sz="2800" dirty="0">
              <a:latin typeface="Times New Roman" panose="02020603050405020304" pitchFamily="18" charset="0"/>
              <a:cs typeface="Times New Roman" panose="02020603050405020304" pitchFamily="18" charset="0"/>
            </a:endParaRPr>
          </a:p>
        </p:txBody>
      </p:sp>
      <p:pic>
        <p:nvPicPr>
          <p:cNvPr id="10" name="Graphic 9" descr="Diploma roll">
            <a:extLst>
              <a:ext uri="{FF2B5EF4-FFF2-40B4-BE49-F238E27FC236}">
                <a16:creationId xmlns:a16="http://schemas.microsoft.com/office/drawing/2014/main" id="{7CC0A653-E9B6-564B-D33A-CD77571354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98369" y="290245"/>
            <a:ext cx="914400" cy="914400"/>
          </a:xfrm>
          <a:prstGeom prst="rect">
            <a:avLst/>
          </a:prstGeom>
        </p:spPr>
      </p:pic>
      <p:sp>
        <p:nvSpPr>
          <p:cNvPr id="12" name="TextBox 11">
            <a:extLst>
              <a:ext uri="{FF2B5EF4-FFF2-40B4-BE49-F238E27FC236}">
                <a16:creationId xmlns:a16="http://schemas.microsoft.com/office/drawing/2014/main" id="{1D4185BE-38B4-3947-1AF5-618FB8B5CC52}"/>
              </a:ext>
            </a:extLst>
          </p:cNvPr>
          <p:cNvSpPr txBox="1"/>
          <p:nvPr/>
        </p:nvSpPr>
        <p:spPr>
          <a:xfrm>
            <a:off x="9367463" y="472879"/>
            <a:ext cx="609771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College / Degree</a:t>
            </a:r>
          </a:p>
        </p:txBody>
      </p:sp>
      <p:pic>
        <p:nvPicPr>
          <p:cNvPr id="14" name="Graphic 13" descr="Bank">
            <a:extLst>
              <a:ext uri="{FF2B5EF4-FFF2-40B4-BE49-F238E27FC236}">
                <a16:creationId xmlns:a16="http://schemas.microsoft.com/office/drawing/2014/main" id="{18F7C753-7D23-8DB7-5413-8CEAA3410A3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56661" y="341615"/>
            <a:ext cx="767994" cy="767994"/>
          </a:xfrm>
          <a:prstGeom prst="rect">
            <a:avLst/>
          </a:prstGeom>
        </p:spPr>
      </p:pic>
      <p:sp>
        <p:nvSpPr>
          <p:cNvPr id="16" name="TextBox 15">
            <a:extLst>
              <a:ext uri="{FF2B5EF4-FFF2-40B4-BE49-F238E27FC236}">
                <a16:creationId xmlns:a16="http://schemas.microsoft.com/office/drawing/2014/main" id="{CC924247-A2F1-2AF8-B750-EF5B405AF1A7}"/>
              </a:ext>
            </a:extLst>
          </p:cNvPr>
          <p:cNvSpPr txBox="1"/>
          <p:nvPr/>
        </p:nvSpPr>
        <p:spPr>
          <a:xfrm>
            <a:off x="1122452" y="1541391"/>
            <a:ext cx="773130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Job / Office</a:t>
            </a:r>
          </a:p>
        </p:txBody>
      </p:sp>
      <p:pic>
        <p:nvPicPr>
          <p:cNvPr id="18" name="Graphic 17" descr="Briefcase">
            <a:extLst>
              <a:ext uri="{FF2B5EF4-FFF2-40B4-BE49-F238E27FC236}">
                <a16:creationId xmlns:a16="http://schemas.microsoft.com/office/drawing/2014/main" id="{90DCD16B-8798-CE41-F41A-8C6BB84E8E7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4319" y="1376737"/>
            <a:ext cx="783404" cy="783404"/>
          </a:xfrm>
          <a:prstGeom prst="rect">
            <a:avLst/>
          </a:prstGeom>
        </p:spPr>
      </p:pic>
      <p:sp>
        <p:nvSpPr>
          <p:cNvPr id="19" name="TextBox 18">
            <a:extLst>
              <a:ext uri="{FF2B5EF4-FFF2-40B4-BE49-F238E27FC236}">
                <a16:creationId xmlns:a16="http://schemas.microsoft.com/office/drawing/2014/main" id="{3EAF8DBB-086D-9690-46DB-50ABC61499D3}"/>
              </a:ext>
            </a:extLst>
          </p:cNvPr>
          <p:cNvSpPr txBox="1"/>
          <p:nvPr/>
        </p:nvSpPr>
        <p:spPr>
          <a:xfrm>
            <a:off x="4696386" y="1508857"/>
            <a:ext cx="773130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Medical Records</a:t>
            </a:r>
          </a:p>
        </p:txBody>
      </p:sp>
      <p:pic>
        <p:nvPicPr>
          <p:cNvPr id="21" name="Graphic 20" descr="Medical">
            <a:extLst>
              <a:ext uri="{FF2B5EF4-FFF2-40B4-BE49-F238E27FC236}">
                <a16:creationId xmlns:a16="http://schemas.microsoft.com/office/drawing/2014/main" id="{483CCCD2-0F6A-81C7-58CC-6553757CA31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60176" y="1396927"/>
            <a:ext cx="783404" cy="783404"/>
          </a:xfrm>
          <a:prstGeom prst="rect">
            <a:avLst/>
          </a:prstGeom>
        </p:spPr>
      </p:pic>
      <p:sp>
        <p:nvSpPr>
          <p:cNvPr id="23" name="TextBox 22">
            <a:extLst>
              <a:ext uri="{FF2B5EF4-FFF2-40B4-BE49-F238E27FC236}">
                <a16:creationId xmlns:a16="http://schemas.microsoft.com/office/drawing/2014/main" id="{480A3E2D-BC30-ACCF-FE11-A960D482AF74}"/>
              </a:ext>
            </a:extLst>
          </p:cNvPr>
          <p:cNvSpPr txBox="1"/>
          <p:nvPr/>
        </p:nvSpPr>
        <p:spPr>
          <a:xfrm>
            <a:off x="9444519" y="1510570"/>
            <a:ext cx="7731302"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Financial / Bank</a:t>
            </a:r>
          </a:p>
        </p:txBody>
      </p:sp>
      <p:pic>
        <p:nvPicPr>
          <p:cNvPr id="25" name="Graphic 24" descr="Coins">
            <a:extLst>
              <a:ext uri="{FF2B5EF4-FFF2-40B4-BE49-F238E27FC236}">
                <a16:creationId xmlns:a16="http://schemas.microsoft.com/office/drawing/2014/main" id="{C21734DF-3FE4-3DCA-20A8-A87C1D80AD6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509590" y="1454888"/>
            <a:ext cx="762000" cy="762000"/>
          </a:xfrm>
          <a:prstGeom prst="rect">
            <a:avLst/>
          </a:prstGeom>
        </p:spPr>
      </p:pic>
      <p:sp>
        <p:nvSpPr>
          <p:cNvPr id="27" name="TextBox 26">
            <a:extLst>
              <a:ext uri="{FF2B5EF4-FFF2-40B4-BE49-F238E27FC236}">
                <a16:creationId xmlns:a16="http://schemas.microsoft.com/office/drawing/2014/main" id="{3ABA7F33-364C-2D64-F697-54CDFF167D6E}"/>
              </a:ext>
            </a:extLst>
          </p:cNvPr>
          <p:cNvSpPr txBox="1"/>
          <p:nvPr/>
        </p:nvSpPr>
        <p:spPr>
          <a:xfrm>
            <a:off x="1230718" y="3999246"/>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Office Expenses</a:t>
            </a:r>
            <a:endParaRPr lang="en-IN" sz="2800" dirty="0">
              <a:latin typeface="Times New Roman" panose="02020603050405020304" pitchFamily="18" charset="0"/>
              <a:cs typeface="Times New Roman" panose="02020603050405020304" pitchFamily="18" charset="0"/>
            </a:endParaRPr>
          </a:p>
        </p:txBody>
      </p:sp>
      <p:pic>
        <p:nvPicPr>
          <p:cNvPr id="29" name="Graphic 28" descr="Label">
            <a:extLst>
              <a:ext uri="{FF2B5EF4-FFF2-40B4-BE49-F238E27FC236}">
                <a16:creationId xmlns:a16="http://schemas.microsoft.com/office/drawing/2014/main" id="{F6032318-700B-27D0-1A95-D8A302D56C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94931" y="2705985"/>
            <a:ext cx="914400" cy="914400"/>
          </a:xfrm>
          <a:prstGeom prst="rect">
            <a:avLst/>
          </a:prstGeom>
        </p:spPr>
      </p:pic>
      <p:sp>
        <p:nvSpPr>
          <p:cNvPr id="30" name="TextBox 29">
            <a:extLst>
              <a:ext uri="{FF2B5EF4-FFF2-40B4-BE49-F238E27FC236}">
                <a16:creationId xmlns:a16="http://schemas.microsoft.com/office/drawing/2014/main" id="{9D79AE76-8603-3E61-0A77-7924B1CC7127}"/>
              </a:ext>
            </a:extLst>
          </p:cNvPr>
          <p:cNvSpPr txBox="1"/>
          <p:nvPr/>
        </p:nvSpPr>
        <p:spPr>
          <a:xfrm>
            <a:off x="5072615" y="2758780"/>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Archive</a:t>
            </a:r>
            <a:endParaRPr lang="en-IN" sz="2800" dirty="0">
              <a:latin typeface="Times New Roman" panose="02020603050405020304" pitchFamily="18" charset="0"/>
              <a:cs typeface="Times New Roman" panose="02020603050405020304" pitchFamily="18" charset="0"/>
            </a:endParaRPr>
          </a:p>
        </p:txBody>
      </p:sp>
      <p:pic>
        <p:nvPicPr>
          <p:cNvPr id="32" name="Graphic 31" descr="Box">
            <a:extLst>
              <a:ext uri="{FF2B5EF4-FFF2-40B4-BE49-F238E27FC236}">
                <a16:creationId xmlns:a16="http://schemas.microsoft.com/office/drawing/2014/main" id="{70C04884-4472-EB21-B097-0905DB2B7F9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192772" y="2610293"/>
            <a:ext cx="762000" cy="762000"/>
          </a:xfrm>
          <a:prstGeom prst="rect">
            <a:avLst/>
          </a:prstGeom>
        </p:spPr>
      </p:pic>
      <p:sp>
        <p:nvSpPr>
          <p:cNvPr id="33" name="TextBox 32">
            <a:extLst>
              <a:ext uri="{FF2B5EF4-FFF2-40B4-BE49-F238E27FC236}">
                <a16:creationId xmlns:a16="http://schemas.microsoft.com/office/drawing/2014/main" id="{6F522BDA-87E1-ACDB-D88A-E4FE6DA86DB0}"/>
              </a:ext>
            </a:extLst>
          </p:cNvPr>
          <p:cNvSpPr txBox="1"/>
          <p:nvPr/>
        </p:nvSpPr>
        <p:spPr>
          <a:xfrm>
            <a:off x="7617341" y="2772957"/>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Insurance</a:t>
            </a:r>
            <a:endParaRPr lang="en-IN" sz="2800" dirty="0">
              <a:latin typeface="Times New Roman" panose="02020603050405020304" pitchFamily="18" charset="0"/>
              <a:cs typeface="Times New Roman" panose="02020603050405020304" pitchFamily="18" charset="0"/>
            </a:endParaRPr>
          </a:p>
        </p:txBody>
      </p:sp>
      <p:pic>
        <p:nvPicPr>
          <p:cNvPr id="35" name="Graphic 34" descr="Piggy Bank">
            <a:extLst>
              <a:ext uri="{FF2B5EF4-FFF2-40B4-BE49-F238E27FC236}">
                <a16:creationId xmlns:a16="http://schemas.microsoft.com/office/drawing/2014/main" id="{BF632FEC-FEB0-6699-60A3-69647A4CAF0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755219" y="2652823"/>
            <a:ext cx="740735" cy="740735"/>
          </a:xfrm>
          <a:prstGeom prst="rect">
            <a:avLst/>
          </a:prstGeom>
        </p:spPr>
      </p:pic>
      <p:sp>
        <p:nvSpPr>
          <p:cNvPr id="36" name="TextBox 35">
            <a:extLst>
              <a:ext uri="{FF2B5EF4-FFF2-40B4-BE49-F238E27FC236}">
                <a16:creationId xmlns:a16="http://schemas.microsoft.com/office/drawing/2014/main" id="{1C149A48-0116-DC26-AD0C-A1BE6A484AF0}"/>
              </a:ext>
            </a:extLst>
          </p:cNvPr>
          <p:cNvSpPr txBox="1"/>
          <p:nvPr/>
        </p:nvSpPr>
        <p:spPr>
          <a:xfrm>
            <a:off x="10566104" y="2744603"/>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Loan</a:t>
            </a:r>
            <a:endParaRPr lang="en-IN" sz="2800" dirty="0">
              <a:latin typeface="Times New Roman" panose="02020603050405020304" pitchFamily="18" charset="0"/>
              <a:cs typeface="Times New Roman" panose="02020603050405020304" pitchFamily="18" charset="0"/>
            </a:endParaRPr>
          </a:p>
        </p:txBody>
      </p:sp>
      <p:pic>
        <p:nvPicPr>
          <p:cNvPr id="38" name="Graphic 37" descr="Rupee">
            <a:extLst>
              <a:ext uri="{FF2B5EF4-FFF2-40B4-BE49-F238E27FC236}">
                <a16:creationId xmlns:a16="http://schemas.microsoft.com/office/drawing/2014/main" id="{C6AFAD6B-A891-F347-2A3C-965B8E13E060}"/>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806762" y="2656367"/>
            <a:ext cx="671623" cy="671623"/>
          </a:xfrm>
          <a:prstGeom prst="rect">
            <a:avLst/>
          </a:prstGeom>
        </p:spPr>
      </p:pic>
      <p:sp>
        <p:nvSpPr>
          <p:cNvPr id="39" name="TextBox 38">
            <a:extLst>
              <a:ext uri="{FF2B5EF4-FFF2-40B4-BE49-F238E27FC236}">
                <a16:creationId xmlns:a16="http://schemas.microsoft.com/office/drawing/2014/main" id="{59BFF35B-DEC5-B58D-EC4B-4512DEF57412}"/>
              </a:ext>
            </a:extLst>
          </p:cNvPr>
          <p:cNvSpPr txBox="1"/>
          <p:nvPr/>
        </p:nvSpPr>
        <p:spPr>
          <a:xfrm>
            <a:off x="1212997" y="2897004"/>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Bills &amp; Receipts</a:t>
            </a:r>
            <a:endParaRPr lang="en-IN" sz="2800"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364C9504-8C94-B4FE-80C2-709899529A6D}"/>
              </a:ext>
            </a:extLst>
          </p:cNvPr>
          <p:cNvSpPr txBox="1"/>
          <p:nvPr/>
        </p:nvSpPr>
        <p:spPr>
          <a:xfrm>
            <a:off x="5072616" y="4002792"/>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Property</a:t>
            </a:r>
            <a:endParaRPr lang="en-IN" sz="2800" dirty="0">
              <a:latin typeface="Times New Roman" panose="02020603050405020304" pitchFamily="18" charset="0"/>
              <a:cs typeface="Times New Roman" panose="02020603050405020304" pitchFamily="18" charset="0"/>
            </a:endParaRPr>
          </a:p>
        </p:txBody>
      </p:sp>
      <p:pic>
        <p:nvPicPr>
          <p:cNvPr id="42" name="Graphic 41" descr="Rainy scene">
            <a:extLst>
              <a:ext uri="{FF2B5EF4-FFF2-40B4-BE49-F238E27FC236}">
                <a16:creationId xmlns:a16="http://schemas.microsoft.com/office/drawing/2014/main" id="{56B88360-F493-AB05-97B5-33F901F83DE0}"/>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4104169" y="3850758"/>
            <a:ext cx="710609" cy="710609"/>
          </a:xfrm>
          <a:prstGeom prst="rect">
            <a:avLst/>
          </a:prstGeom>
        </p:spPr>
      </p:pic>
      <p:sp>
        <p:nvSpPr>
          <p:cNvPr id="43" name="TextBox 42">
            <a:extLst>
              <a:ext uri="{FF2B5EF4-FFF2-40B4-BE49-F238E27FC236}">
                <a16:creationId xmlns:a16="http://schemas.microsoft.com/office/drawing/2014/main" id="{D99A6A58-7504-0D06-70D4-B16A5A0D8C0E}"/>
              </a:ext>
            </a:extLst>
          </p:cNvPr>
          <p:cNvSpPr txBox="1"/>
          <p:nvPr/>
        </p:nvSpPr>
        <p:spPr>
          <a:xfrm>
            <a:off x="7532282" y="4006337"/>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Rental Agreements / Hostels</a:t>
            </a:r>
            <a:endParaRPr lang="en-IN" sz="2800" dirty="0">
              <a:latin typeface="Times New Roman" panose="02020603050405020304" pitchFamily="18" charset="0"/>
              <a:cs typeface="Times New Roman" panose="02020603050405020304" pitchFamily="18" charset="0"/>
            </a:endParaRPr>
          </a:p>
        </p:txBody>
      </p:sp>
      <p:pic>
        <p:nvPicPr>
          <p:cNvPr id="44" name="Graphic 43" descr="House">
            <a:extLst>
              <a:ext uri="{FF2B5EF4-FFF2-40B4-BE49-F238E27FC236}">
                <a16:creationId xmlns:a16="http://schemas.microsoft.com/office/drawing/2014/main" id="{D153C700-E799-389C-5022-B5642646B71B}"/>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6751676" y="3861390"/>
            <a:ext cx="733646" cy="733646"/>
          </a:xfrm>
          <a:prstGeom prst="rect">
            <a:avLst/>
          </a:prstGeom>
        </p:spPr>
      </p:pic>
      <p:sp>
        <p:nvSpPr>
          <p:cNvPr id="45" name="TextBox 44">
            <a:extLst>
              <a:ext uri="{FF2B5EF4-FFF2-40B4-BE49-F238E27FC236}">
                <a16:creationId xmlns:a16="http://schemas.microsoft.com/office/drawing/2014/main" id="{B5125C0C-D7F9-7EA6-3242-A02D779DAE09}"/>
              </a:ext>
            </a:extLst>
          </p:cNvPr>
          <p:cNvSpPr txBox="1"/>
          <p:nvPr/>
        </p:nvSpPr>
        <p:spPr>
          <a:xfrm>
            <a:off x="1418560" y="5207816"/>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Old School</a:t>
            </a:r>
            <a:endParaRPr lang="en-IN" sz="2800" dirty="0">
              <a:latin typeface="Times New Roman" panose="02020603050405020304" pitchFamily="18" charset="0"/>
              <a:cs typeface="Times New Roman" panose="02020603050405020304" pitchFamily="18" charset="0"/>
            </a:endParaRPr>
          </a:p>
        </p:txBody>
      </p:sp>
      <p:pic>
        <p:nvPicPr>
          <p:cNvPr id="46" name="Graphic 45" descr="City">
            <a:extLst>
              <a:ext uri="{FF2B5EF4-FFF2-40B4-BE49-F238E27FC236}">
                <a16:creationId xmlns:a16="http://schemas.microsoft.com/office/drawing/2014/main" id="{A717F33F-F22E-A160-1D5A-621FE04684D8}"/>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255182" y="3829492"/>
            <a:ext cx="914400" cy="914400"/>
          </a:xfrm>
          <a:prstGeom prst="rect">
            <a:avLst/>
          </a:prstGeom>
        </p:spPr>
      </p:pic>
      <p:pic>
        <p:nvPicPr>
          <p:cNvPr id="47" name="Graphic 46" descr="Open book">
            <a:extLst>
              <a:ext uri="{FF2B5EF4-FFF2-40B4-BE49-F238E27FC236}">
                <a16:creationId xmlns:a16="http://schemas.microsoft.com/office/drawing/2014/main" id="{EE6C1215-A272-FFD0-FB07-C0C1EFEA050C}"/>
              </a:ext>
            </a:extLst>
          </p:cNvPr>
          <p:cNvPicPr>
            <a:picLocks noChangeAspect="1"/>
          </p:cNvPicPr>
          <p:nvPr/>
        </p:nvPicPr>
        <p:blipFill>
          <a:blip r:embed="rId29">
            <a:extLst>
              <a:ext uri="{96DAC541-7B7A-43D3-8B79-37D633B846F1}">
                <asvg:svgBlip xmlns:asvg="http://schemas.microsoft.com/office/drawing/2016/SVG/main" r:embed="rId30"/>
              </a:ext>
            </a:extLst>
          </a:blip>
          <a:srcRect/>
          <a:stretch/>
        </p:blipFill>
        <p:spPr>
          <a:xfrm>
            <a:off x="382772" y="5041605"/>
            <a:ext cx="827568" cy="827568"/>
          </a:xfrm>
          <a:prstGeom prst="rect">
            <a:avLst/>
          </a:prstGeom>
        </p:spPr>
      </p:pic>
      <p:pic>
        <p:nvPicPr>
          <p:cNvPr id="48" name="Graphic 47" descr="Help">
            <a:extLst>
              <a:ext uri="{FF2B5EF4-FFF2-40B4-BE49-F238E27FC236}">
                <a16:creationId xmlns:a16="http://schemas.microsoft.com/office/drawing/2014/main" id="{DC136F21-E5D3-CD30-FF8C-B4337CF4003C}"/>
              </a:ext>
            </a:extLst>
          </p:cNvPr>
          <p:cNvPicPr>
            <a:picLocks noChangeAspect="1"/>
          </p:cNvPicPr>
          <p:nvPr/>
        </p:nvPicPr>
        <p:blipFill>
          <a:blip r:embed="rId31">
            <a:extLst>
              <a:ext uri="{96DAC541-7B7A-43D3-8B79-37D633B846F1}">
                <asvg:svgBlip xmlns:asvg="http://schemas.microsoft.com/office/drawing/2016/SVG/main" r:embed="rId32"/>
              </a:ext>
            </a:extLst>
          </a:blip>
          <a:srcRect/>
          <a:stretch/>
        </p:blipFill>
        <p:spPr>
          <a:xfrm>
            <a:off x="3778102" y="5103627"/>
            <a:ext cx="726559" cy="726559"/>
          </a:xfrm>
          <a:prstGeom prst="rect">
            <a:avLst/>
          </a:prstGeom>
        </p:spPr>
      </p:pic>
      <p:sp>
        <p:nvSpPr>
          <p:cNvPr id="49" name="TextBox 48">
            <a:extLst>
              <a:ext uri="{FF2B5EF4-FFF2-40B4-BE49-F238E27FC236}">
                <a16:creationId xmlns:a16="http://schemas.microsoft.com/office/drawing/2014/main" id="{57419B1A-DF1F-2899-D31D-14BB12CF7B10}"/>
              </a:ext>
            </a:extLst>
          </p:cNvPr>
          <p:cNvSpPr txBox="1"/>
          <p:nvPr/>
        </p:nvSpPr>
        <p:spPr>
          <a:xfrm>
            <a:off x="4696932" y="5158197"/>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Exams</a:t>
            </a:r>
            <a:endParaRPr lang="en-IN" sz="28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3F65D4BA-9ADA-2C4C-8D0F-479B9DA9C7F1}"/>
              </a:ext>
            </a:extLst>
          </p:cNvPr>
          <p:cNvSpPr txBox="1"/>
          <p:nvPr/>
        </p:nvSpPr>
        <p:spPr>
          <a:xfrm>
            <a:off x="6943946" y="5140475"/>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Travel</a:t>
            </a:r>
            <a:endParaRPr lang="en-IN" sz="2800" dirty="0">
              <a:latin typeface="Times New Roman" panose="02020603050405020304" pitchFamily="18" charset="0"/>
              <a:cs typeface="Times New Roman" panose="02020603050405020304" pitchFamily="18" charset="0"/>
            </a:endParaRPr>
          </a:p>
        </p:txBody>
      </p:sp>
      <p:pic>
        <p:nvPicPr>
          <p:cNvPr id="51" name="Graphic 50" descr="World">
            <a:extLst>
              <a:ext uri="{FF2B5EF4-FFF2-40B4-BE49-F238E27FC236}">
                <a16:creationId xmlns:a16="http://schemas.microsoft.com/office/drawing/2014/main" id="{FA346E51-4BBC-6926-722B-96DF820C14B9}"/>
              </a:ext>
            </a:extLst>
          </p:cNvPr>
          <p:cNvPicPr>
            <a:picLocks noChangeAspect="1"/>
          </p:cNvPicPr>
          <p:nvPr/>
        </p:nvPicPr>
        <p:blipFill>
          <a:blip r:embed="rId33">
            <a:extLst>
              <a:ext uri="{96DAC541-7B7A-43D3-8B79-37D633B846F1}">
                <asvg:svgBlip xmlns:asvg="http://schemas.microsoft.com/office/drawing/2016/SVG/main" r:embed="rId34"/>
              </a:ext>
            </a:extLst>
          </a:blip>
          <a:srcRect/>
          <a:stretch/>
        </p:blipFill>
        <p:spPr>
          <a:xfrm>
            <a:off x="6120809" y="5043376"/>
            <a:ext cx="726559" cy="726559"/>
          </a:xfrm>
          <a:prstGeom prst="rect">
            <a:avLst/>
          </a:prstGeom>
        </p:spPr>
      </p:pic>
      <p:sp>
        <p:nvSpPr>
          <p:cNvPr id="52" name="TextBox 51">
            <a:extLst>
              <a:ext uri="{FF2B5EF4-FFF2-40B4-BE49-F238E27FC236}">
                <a16:creationId xmlns:a16="http://schemas.microsoft.com/office/drawing/2014/main" id="{7BAD09AC-94A2-0131-9B28-50B16227FCB2}"/>
              </a:ext>
            </a:extLst>
          </p:cNvPr>
          <p:cNvSpPr txBox="1"/>
          <p:nvPr/>
        </p:nvSpPr>
        <p:spPr>
          <a:xfrm>
            <a:off x="8861351" y="5133387"/>
            <a:ext cx="858579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Household Expenses</a:t>
            </a:r>
            <a:endParaRPr lang="en-IN" sz="2800" dirty="0">
              <a:latin typeface="Times New Roman" panose="02020603050405020304" pitchFamily="18" charset="0"/>
              <a:cs typeface="Times New Roman" panose="02020603050405020304" pitchFamily="18" charset="0"/>
            </a:endParaRPr>
          </a:p>
        </p:txBody>
      </p:sp>
      <p:pic>
        <p:nvPicPr>
          <p:cNvPr id="53" name="Graphic 52" descr="Money envelope">
            <a:extLst>
              <a:ext uri="{FF2B5EF4-FFF2-40B4-BE49-F238E27FC236}">
                <a16:creationId xmlns:a16="http://schemas.microsoft.com/office/drawing/2014/main" id="{3E47EAB9-10DD-BF7A-7CCF-798AF9493F95}"/>
              </a:ext>
            </a:extLst>
          </p:cNvPr>
          <p:cNvPicPr>
            <a:picLocks noChangeAspect="1"/>
          </p:cNvPicPr>
          <p:nvPr/>
        </p:nvPicPr>
        <p:blipFill>
          <a:blip r:embed="rId35">
            <a:extLst>
              <a:ext uri="{96DAC541-7B7A-43D3-8B79-37D633B846F1}">
                <asvg:svgBlip xmlns:asvg="http://schemas.microsoft.com/office/drawing/2016/SVG/main" r:embed="rId36"/>
              </a:ext>
            </a:extLst>
          </a:blip>
          <a:srcRect/>
          <a:stretch/>
        </p:blipFill>
        <p:spPr>
          <a:xfrm>
            <a:off x="8174667" y="4995530"/>
            <a:ext cx="726559" cy="726559"/>
          </a:xfrm>
          <a:prstGeom prst="rect">
            <a:avLst/>
          </a:prstGeom>
        </p:spPr>
      </p:pic>
      <p:pic>
        <p:nvPicPr>
          <p:cNvPr id="54" name="Graphic 53" descr="Scooter">
            <a:extLst>
              <a:ext uri="{FF2B5EF4-FFF2-40B4-BE49-F238E27FC236}">
                <a16:creationId xmlns:a16="http://schemas.microsoft.com/office/drawing/2014/main" id="{4F463B01-E446-A8FD-3F6B-2F023503794F}"/>
              </a:ext>
            </a:extLst>
          </p:cNvPr>
          <p:cNvPicPr>
            <a:picLocks noChangeAspect="1"/>
          </p:cNvPicPr>
          <p:nvPr/>
        </p:nvPicPr>
        <p:blipFill>
          <a:blip r:embed="rId37">
            <a:extLst>
              <a:ext uri="{96DAC541-7B7A-43D3-8B79-37D633B846F1}">
                <asvg:svgBlip xmlns:asvg="http://schemas.microsoft.com/office/drawing/2016/SVG/main" r:embed="rId38"/>
              </a:ext>
            </a:extLst>
          </a:blip>
          <a:srcRect/>
          <a:stretch/>
        </p:blipFill>
        <p:spPr>
          <a:xfrm>
            <a:off x="267588" y="6030432"/>
            <a:ext cx="726559" cy="726559"/>
          </a:xfrm>
          <a:prstGeom prst="rect">
            <a:avLst/>
          </a:prstGeom>
        </p:spPr>
      </p:pic>
      <p:sp>
        <p:nvSpPr>
          <p:cNvPr id="55" name="TextBox 54">
            <a:extLst>
              <a:ext uri="{FF2B5EF4-FFF2-40B4-BE49-F238E27FC236}">
                <a16:creationId xmlns:a16="http://schemas.microsoft.com/office/drawing/2014/main" id="{837CEE9E-9426-CFA8-3C1F-83F8B0477F52}"/>
              </a:ext>
            </a:extLst>
          </p:cNvPr>
          <p:cNvSpPr txBox="1"/>
          <p:nvPr/>
        </p:nvSpPr>
        <p:spPr>
          <a:xfrm>
            <a:off x="1188187" y="6168290"/>
            <a:ext cx="1512483"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Vehicles</a:t>
            </a:r>
            <a:endParaRPr lang="en-IN" sz="2800" dirty="0">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377E609B-D872-5E28-EB91-44EB0AAD6B26}"/>
              </a:ext>
            </a:extLst>
          </p:cNvPr>
          <p:cNvSpPr txBox="1"/>
          <p:nvPr/>
        </p:nvSpPr>
        <p:spPr>
          <a:xfrm>
            <a:off x="2840665" y="6182468"/>
            <a:ext cx="3241157"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Your Name</a:t>
            </a:r>
            <a:endParaRPr lang="en-IN" sz="2800" dirty="0">
              <a:latin typeface="Times New Roman" panose="02020603050405020304" pitchFamily="18" charset="0"/>
              <a:cs typeface="Times New Roman" panose="02020603050405020304" pitchFamily="18" charset="0"/>
            </a:endParaRPr>
          </a:p>
        </p:txBody>
      </p:sp>
      <p:pic>
        <p:nvPicPr>
          <p:cNvPr id="57" name="Graphic 56" descr="Speaker Phone">
            <a:extLst>
              <a:ext uri="{FF2B5EF4-FFF2-40B4-BE49-F238E27FC236}">
                <a16:creationId xmlns:a16="http://schemas.microsoft.com/office/drawing/2014/main" id="{7C325588-211B-28BA-E8A9-29571C60A9A7}"/>
              </a:ext>
            </a:extLst>
          </p:cNvPr>
          <p:cNvPicPr>
            <a:picLocks noChangeAspect="1"/>
          </p:cNvPicPr>
          <p:nvPr/>
        </p:nvPicPr>
        <p:blipFill>
          <a:blip r:embed="rId39">
            <a:extLst>
              <a:ext uri="{96DAC541-7B7A-43D3-8B79-37D633B846F1}">
                <asvg:svgBlip xmlns:asvg="http://schemas.microsoft.com/office/drawing/2016/SVG/main" r:embed="rId40"/>
              </a:ext>
            </a:extLst>
          </a:blip>
          <a:srcRect/>
          <a:stretch/>
        </p:blipFill>
        <p:spPr>
          <a:xfrm>
            <a:off x="5784111" y="6035748"/>
            <a:ext cx="726559" cy="726559"/>
          </a:xfrm>
          <a:prstGeom prst="rect">
            <a:avLst/>
          </a:prstGeom>
        </p:spPr>
      </p:pic>
      <p:sp>
        <p:nvSpPr>
          <p:cNvPr id="58" name="TextBox 57">
            <a:extLst>
              <a:ext uri="{FF2B5EF4-FFF2-40B4-BE49-F238E27FC236}">
                <a16:creationId xmlns:a16="http://schemas.microsoft.com/office/drawing/2014/main" id="{7BFACCF1-80B7-668B-B02C-2A733D1318EA}"/>
              </a:ext>
            </a:extLst>
          </p:cNvPr>
          <p:cNvSpPr txBox="1"/>
          <p:nvPr/>
        </p:nvSpPr>
        <p:spPr>
          <a:xfrm>
            <a:off x="6678132" y="6150569"/>
            <a:ext cx="2657254"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Mobile No.</a:t>
            </a:r>
            <a:endParaRPr lang="en-IN" sz="2800" dirty="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60F8A982-E1B2-33FC-E4DB-CA1350B6FE82}"/>
              </a:ext>
            </a:extLst>
          </p:cNvPr>
          <p:cNvSpPr txBox="1"/>
          <p:nvPr/>
        </p:nvSpPr>
        <p:spPr>
          <a:xfrm>
            <a:off x="9085521" y="6196644"/>
            <a:ext cx="3241157"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Your Name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1669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069CF-2C50-D327-4C7F-520A3142C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2AB3E-9F29-B46F-EB78-D9C3F4C2F857}"/>
              </a:ext>
            </a:extLst>
          </p:cNvPr>
          <p:cNvSpPr>
            <a:spLocks noGrp="1"/>
          </p:cNvSpPr>
          <p:nvPr>
            <p:ph type="title"/>
          </p:nvPr>
        </p:nvSpPr>
        <p:spPr>
          <a:xfrm>
            <a:off x="848475" y="-148583"/>
            <a:ext cx="10515600" cy="1325563"/>
          </a:xfrm>
        </p:spPr>
        <p:txBody>
          <a:bodyPr/>
          <a:lstStyle/>
          <a:p>
            <a:pPr algn="ctr"/>
            <a:r>
              <a:rPr lang="en-IN" b="1" dirty="0"/>
              <a:t>Indexing</a:t>
            </a:r>
          </a:p>
        </p:txBody>
      </p:sp>
      <p:sp>
        <p:nvSpPr>
          <p:cNvPr id="3" name="Content Placeholder 2">
            <a:extLst>
              <a:ext uri="{FF2B5EF4-FFF2-40B4-BE49-F238E27FC236}">
                <a16:creationId xmlns:a16="http://schemas.microsoft.com/office/drawing/2014/main" id="{719F29C4-E57D-BF6D-4335-67BB77B44E14}"/>
              </a:ext>
            </a:extLst>
          </p:cNvPr>
          <p:cNvSpPr>
            <a:spLocks noGrp="1"/>
          </p:cNvSpPr>
          <p:nvPr>
            <p:ph idx="1"/>
          </p:nvPr>
        </p:nvSpPr>
        <p:spPr>
          <a:xfrm>
            <a:off x="215757" y="996593"/>
            <a:ext cx="11702265" cy="5712432"/>
          </a:xfrm>
        </p:spPr>
        <p:txBody>
          <a:bodyPr>
            <a:normAutofit fontScale="92500"/>
          </a:bodyPr>
          <a:lstStyle/>
          <a:p>
            <a:pPr marL="0" indent="0" algn="just">
              <a:buNone/>
            </a:pPr>
            <a:r>
              <a:rPr lang="en-US" dirty="0">
                <a:latin typeface="Times New Roman" panose="02020603050405020304" pitchFamily="18" charset="0"/>
                <a:cs typeface="Times New Roman" panose="02020603050405020304" pitchFamily="18" charset="0"/>
              </a:rPr>
              <a:t>After you have put labels on your folder, have a separate dedicated index page for each folder. Keep it in front:</a:t>
            </a:r>
          </a:p>
          <a:p>
            <a:pPr lvl="1" algn="just"/>
            <a:r>
              <a:rPr lang="en-US" sz="2800" dirty="0">
                <a:latin typeface="Times New Roman" panose="02020603050405020304" pitchFamily="18" charset="0"/>
                <a:cs typeface="Times New Roman" panose="02020603050405020304" pitchFamily="18" charset="0"/>
              </a:rPr>
              <a:t>Write all document names with photocopies count (if any).</a:t>
            </a:r>
          </a:p>
          <a:p>
            <a:pPr lvl="1" algn="just"/>
            <a:r>
              <a:rPr lang="en-US" sz="2800" dirty="0">
                <a:latin typeface="Times New Roman" panose="02020603050405020304" pitchFamily="18" charset="0"/>
                <a:cs typeface="Times New Roman" panose="02020603050405020304" pitchFamily="18" charset="0"/>
              </a:rPr>
              <a:t>Also, in the index, write at the top the color of the folder, the company, the type of documents like identity. Make sure this label is the same as the outer label.</a:t>
            </a:r>
          </a:p>
          <a:p>
            <a:pPr marL="0" indent="0" algn="just">
              <a:buNone/>
            </a:pPr>
            <a:r>
              <a:rPr lang="en-US" dirty="0">
                <a:latin typeface="Times New Roman" panose="02020603050405020304" pitchFamily="18" charset="0"/>
                <a:cs typeface="Times New Roman" panose="02020603050405020304" pitchFamily="18" charset="0"/>
              </a:rPr>
              <a:t>Have a </a:t>
            </a:r>
            <a:r>
              <a:rPr lang="en-US" b="1" dirty="0">
                <a:latin typeface="Times New Roman" panose="02020603050405020304" pitchFamily="18" charset="0"/>
                <a:cs typeface="Times New Roman" panose="02020603050405020304" pitchFamily="18" charset="0"/>
              </a:rPr>
              <a:t>master index</a:t>
            </a:r>
            <a:r>
              <a:rPr lang="en-US" dirty="0">
                <a:latin typeface="Times New Roman" panose="02020603050405020304" pitchFamily="18" charset="0"/>
                <a:cs typeface="Times New Roman" panose="02020603050405020304" pitchFamily="18" charset="0"/>
              </a:rPr>
              <a:t> of all files and folders like:</a:t>
            </a:r>
          </a:p>
          <a:p>
            <a:pPr lvl="1" algn="just"/>
            <a:r>
              <a:rPr lang="en-US" sz="2800" b="1" dirty="0">
                <a:latin typeface="Times New Roman" panose="02020603050405020304" pitchFamily="18" charset="0"/>
                <a:cs typeface="Times New Roman" panose="02020603050405020304" pitchFamily="18" charset="0"/>
              </a:rPr>
              <a:t>Folder index: </a:t>
            </a:r>
            <a:r>
              <a:rPr lang="en-US" sz="2800" dirty="0">
                <a:latin typeface="Times New Roman" panose="02020603050405020304" pitchFamily="18" charset="0"/>
                <a:cs typeface="Times New Roman" panose="02020603050405020304" pitchFamily="18" charset="0"/>
              </a:rPr>
              <a:t>Folder color, company, label, documents that you have: write as bullet points or number list</a:t>
            </a:r>
          </a:p>
          <a:p>
            <a:pPr lvl="1" algn="just"/>
            <a:r>
              <a:rPr lang="en-US" sz="2800" b="1" dirty="0">
                <a:latin typeface="Times New Roman" panose="02020603050405020304" pitchFamily="18" charset="0"/>
                <a:cs typeface="Times New Roman" panose="02020603050405020304" pitchFamily="18" charset="0"/>
              </a:rPr>
              <a:t>File index: Education-</a:t>
            </a:r>
            <a:r>
              <a:rPr lang="en-US" sz="2800" dirty="0">
                <a:latin typeface="Times New Roman" panose="02020603050405020304" pitchFamily="18" charset="0"/>
                <a:cs typeface="Times New Roman" panose="02020603050405020304" pitchFamily="18" charset="0"/>
              </a:rPr>
              <a:t> Nursery to </a:t>
            </a:r>
            <a:r>
              <a:rPr lang="en-US" sz="2800" dirty="0" err="1">
                <a:latin typeface="Times New Roman" panose="02020603050405020304" pitchFamily="18" charset="0"/>
                <a:cs typeface="Times New Roman" panose="02020603050405020304" pitchFamily="18" charset="0"/>
              </a:rPr>
              <a:t>B.Tech</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Office-</a:t>
            </a:r>
            <a:r>
              <a:rPr lang="en-US" sz="2800" dirty="0">
                <a:latin typeface="Times New Roman" panose="02020603050405020304" pitchFamily="18" charset="0"/>
                <a:cs typeface="Times New Roman" panose="02020603050405020304" pitchFamily="18" charset="0"/>
              </a:rPr>
              <a:t> Documents, expenses or whatever you have written/kept</a:t>
            </a:r>
          </a:p>
          <a:p>
            <a:pPr marL="0" indent="0" algn="just">
              <a:buNone/>
            </a:pPr>
            <a:r>
              <a:rPr lang="en-US" dirty="0">
                <a:latin typeface="Times New Roman" panose="02020603050405020304" pitchFamily="18" charset="0"/>
                <a:cs typeface="Times New Roman" panose="02020603050405020304" pitchFamily="18" charset="0"/>
              </a:rPr>
              <a:t>Make sure you write file/folder color, company and label. If no company, write pattern like floral one, geometric one. It will make it easy to find folders and files if you need them form the master index. If you have more than one category in one folder. Refer to next slide.</a:t>
            </a:r>
          </a:p>
        </p:txBody>
      </p:sp>
    </p:spTree>
    <p:extLst>
      <p:ext uri="{BB962C8B-B14F-4D97-AF65-F5344CB8AC3E}">
        <p14:creationId xmlns:p14="http://schemas.microsoft.com/office/powerpoint/2010/main" val="2832021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5C22-78EC-3207-09DA-6DE4BE1A7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9CBA3-E08A-F932-1BF6-9DEEE75218A6}"/>
              </a:ext>
            </a:extLst>
          </p:cNvPr>
          <p:cNvSpPr>
            <a:spLocks noGrp="1"/>
          </p:cNvSpPr>
          <p:nvPr>
            <p:ph type="title"/>
          </p:nvPr>
        </p:nvSpPr>
        <p:spPr>
          <a:xfrm>
            <a:off x="848475" y="-148583"/>
            <a:ext cx="10515600" cy="1325563"/>
          </a:xfrm>
        </p:spPr>
        <p:txBody>
          <a:bodyPr/>
          <a:lstStyle/>
          <a:p>
            <a:pPr algn="ctr"/>
            <a:r>
              <a:rPr lang="en-IN" b="1" dirty="0"/>
              <a:t>Most Usage of a Single Folder</a:t>
            </a:r>
          </a:p>
        </p:txBody>
      </p:sp>
      <p:sp>
        <p:nvSpPr>
          <p:cNvPr id="3" name="Content Placeholder 2">
            <a:extLst>
              <a:ext uri="{FF2B5EF4-FFF2-40B4-BE49-F238E27FC236}">
                <a16:creationId xmlns:a16="http://schemas.microsoft.com/office/drawing/2014/main" id="{BAE5F77E-2AFF-5132-C33F-7E9D9B8ACCED}"/>
              </a:ext>
            </a:extLst>
          </p:cNvPr>
          <p:cNvSpPr>
            <a:spLocks noGrp="1"/>
          </p:cNvSpPr>
          <p:nvPr>
            <p:ph idx="1"/>
          </p:nvPr>
        </p:nvSpPr>
        <p:spPr>
          <a:xfrm>
            <a:off x="205483" y="986319"/>
            <a:ext cx="11986517" cy="5722706"/>
          </a:xfrm>
        </p:spPr>
        <p:txBody>
          <a:bodyPr>
            <a:noAutofit/>
          </a:bodyPr>
          <a:lstStyle/>
          <a:p>
            <a:pPr marL="0" indent="0">
              <a:buNone/>
            </a:pPr>
            <a:r>
              <a:rPr lang="en-US" sz="2700" dirty="0">
                <a:latin typeface="Times New Roman" panose="02020603050405020304" pitchFamily="18" charset="0"/>
                <a:cs typeface="Times New Roman" panose="02020603050405020304" pitchFamily="18" charset="0"/>
              </a:rPr>
              <a:t>If you do not want to have a single folder for a single purpose, then this is for you:</a:t>
            </a:r>
          </a:p>
          <a:p>
            <a:r>
              <a:rPr lang="en-US" sz="2700" dirty="0">
                <a:latin typeface="Times New Roman" panose="02020603050405020304" pitchFamily="18" charset="0"/>
                <a:cs typeface="Times New Roman" panose="02020603050405020304" pitchFamily="18" charset="0"/>
              </a:rPr>
              <a:t>So do this: make index for separate folders as the previous slide says, then do this,</a:t>
            </a:r>
            <a:br>
              <a:rPr lang="en-US" sz="27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Buy </a:t>
            </a:r>
            <a:r>
              <a:rPr lang="en-US" sz="2700" b="1" dirty="0">
                <a:latin typeface="Times New Roman" panose="02020603050405020304" pitchFamily="18" charset="0"/>
                <a:cs typeface="Times New Roman" panose="02020603050405020304" pitchFamily="18" charset="0"/>
              </a:rPr>
              <a:t>sticky notes</a:t>
            </a:r>
            <a:r>
              <a:rPr lang="en-US" sz="2700" dirty="0">
                <a:latin typeface="Times New Roman" panose="02020603050405020304" pitchFamily="18" charset="0"/>
                <a:cs typeface="Times New Roman" panose="02020603050405020304" pitchFamily="18" charset="0"/>
              </a:rPr>
              <a:t>, fold them from the center and paste them on the index page </a:t>
            </a:r>
            <a:r>
              <a:rPr lang="en-US" sz="2700" b="1" dirty="0">
                <a:latin typeface="Times New Roman" panose="02020603050405020304" pitchFamily="18" charset="0"/>
                <a:cs typeface="Times New Roman" panose="02020603050405020304" pitchFamily="18" charset="0"/>
              </a:rPr>
              <a:t>corner or edge </a:t>
            </a:r>
            <a:r>
              <a:rPr lang="en-US" sz="2700" dirty="0">
                <a:latin typeface="Times New Roman" panose="02020603050405020304" pitchFamily="18" charset="0"/>
                <a:cs typeface="Times New Roman" panose="02020603050405020304" pitchFamily="18" charset="0"/>
              </a:rPr>
              <a:t>where they are </a:t>
            </a:r>
            <a:r>
              <a:rPr lang="en-US" sz="2700" b="1" dirty="0">
                <a:latin typeface="Times New Roman" panose="02020603050405020304" pitchFamily="18" charset="0"/>
                <a:cs typeface="Times New Roman" panose="02020603050405020304" pitchFamily="18" charset="0"/>
              </a:rPr>
              <a:t>visible</a:t>
            </a:r>
            <a:r>
              <a:rPr lang="en-US" sz="2700" dirty="0">
                <a:latin typeface="Times New Roman" panose="02020603050405020304" pitchFamily="18" charset="0"/>
                <a:cs typeface="Times New Roman" panose="02020603050405020304" pitchFamily="18" charset="0"/>
              </a:rPr>
              <a:t>. Then keep the index page for that category then all one category documents, then index, then category documents. This way you can find from the top sticky notes (make them longer and wider) so they are clearly visible. And you can use one folder to its maximum potential.</a:t>
            </a:r>
          </a:p>
          <a:p>
            <a:r>
              <a:rPr lang="en-IN" sz="2700" b="1" dirty="0">
                <a:latin typeface="Constantia" panose="02030602050306030303" pitchFamily="18" charset="0"/>
              </a:rPr>
              <a:t>Index Page → Documents → Next Index Page → Documents → ...</a:t>
            </a:r>
            <a:endParaRPr lang="en-US" sz="2700" dirty="0">
              <a:latin typeface="Times New Roman" panose="02020603050405020304" pitchFamily="18" charset="0"/>
              <a:cs typeface="Times New Roman" panose="02020603050405020304" pitchFamily="18" charset="0"/>
            </a:endParaRPr>
          </a:p>
          <a:p>
            <a:r>
              <a:rPr lang="en-US" sz="2700" dirty="0">
                <a:latin typeface="Times New Roman" panose="02020603050405020304" pitchFamily="18" charset="0"/>
                <a:cs typeface="Times New Roman" panose="02020603050405020304" pitchFamily="18" charset="0"/>
              </a:rPr>
              <a:t>Master index: Write like this -</a:t>
            </a:r>
            <a:br>
              <a:rPr lang="en-US" sz="2700" dirty="0">
                <a:latin typeface="Times New Roman" panose="02020603050405020304" pitchFamily="18" charset="0"/>
                <a:cs typeface="Times New Roman" panose="02020603050405020304" pitchFamily="18" charset="0"/>
              </a:rPr>
            </a:br>
            <a:r>
              <a:rPr lang="en-US" sz="2700" b="1" dirty="0">
                <a:latin typeface="Times New Roman" panose="02020603050405020304" pitchFamily="18" charset="0"/>
                <a:cs typeface="Times New Roman" panose="02020603050405020304" pitchFamily="18" charset="0"/>
              </a:rPr>
              <a:t>Folder name: category → then document names → then same process</a:t>
            </a:r>
          </a:p>
          <a:p>
            <a:r>
              <a:rPr lang="en-US" sz="2700" dirty="0">
                <a:latin typeface="Times New Roman" panose="02020603050405020304" pitchFamily="18" charset="0"/>
                <a:cs typeface="Times New Roman" panose="02020603050405020304" pitchFamily="18" charset="0"/>
              </a:rPr>
              <a:t>Also paste the label with a broad wide tape so it will not tear up (for outer folder pasting). This can be done with sticky notes too, just paste tape on it, it will be stronger.</a:t>
            </a:r>
          </a:p>
        </p:txBody>
      </p:sp>
    </p:spTree>
    <p:extLst>
      <p:ext uri="{BB962C8B-B14F-4D97-AF65-F5344CB8AC3E}">
        <p14:creationId xmlns:p14="http://schemas.microsoft.com/office/powerpoint/2010/main" val="2035608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125E7-FFA0-E7BA-1A40-1DE4B5B93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9D470-5066-2709-8B4B-F24D75AC9B1B}"/>
              </a:ext>
            </a:extLst>
          </p:cNvPr>
          <p:cNvSpPr>
            <a:spLocks noGrp="1"/>
          </p:cNvSpPr>
          <p:nvPr>
            <p:ph type="title"/>
          </p:nvPr>
        </p:nvSpPr>
        <p:spPr>
          <a:xfrm>
            <a:off x="848475" y="-148583"/>
            <a:ext cx="10515600" cy="1325563"/>
          </a:xfrm>
        </p:spPr>
        <p:txBody>
          <a:bodyPr/>
          <a:lstStyle/>
          <a:p>
            <a:pPr algn="ctr"/>
            <a:r>
              <a:rPr lang="en-IN" b="1" dirty="0"/>
              <a:t>Most Usage of a Single Folder</a:t>
            </a:r>
          </a:p>
        </p:txBody>
      </p:sp>
      <p:sp>
        <p:nvSpPr>
          <p:cNvPr id="5" name="Rectangle 2">
            <a:extLst>
              <a:ext uri="{FF2B5EF4-FFF2-40B4-BE49-F238E27FC236}">
                <a16:creationId xmlns:a16="http://schemas.microsoft.com/office/drawing/2014/main" id="{DAE0A053-0FB9-9CC2-1424-090062FB2636}"/>
              </a:ext>
            </a:extLst>
          </p:cNvPr>
          <p:cNvSpPr>
            <a:spLocks noGrp="1" noChangeArrowheads="1"/>
          </p:cNvSpPr>
          <p:nvPr>
            <p:ph idx="1"/>
          </p:nvPr>
        </p:nvSpPr>
        <p:spPr bwMode="auto">
          <a:xfrm>
            <a:off x="205483" y="825731"/>
            <a:ext cx="11835829"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Arial" panose="020B0604020202020204" pitchFamily="34" charset="0"/>
              </a:rPr>
              <a:t>You can also use colored pages as index dividers within a single folder. For example, start with a red sheet as your first index page. On this page, paste sticky notes horizontally (sideways) along the edge, using the same color for a clean and consistent look. To make them durable, laminate the sticky note area using wide transparent tape.</a:t>
            </a:r>
          </a:p>
          <a:p>
            <a:pPr marL="457200" indent="-457200" algn="just" eaLnBrk="0" fontAlgn="base" hangingPunct="0">
              <a:lnSpc>
                <a:spcPct val="100000"/>
              </a:lnSpc>
              <a:spcBef>
                <a:spcPct val="0"/>
              </a:spcBef>
              <a:spcAft>
                <a:spcPct val="0"/>
              </a:spcAft>
              <a:buFont typeface="+mj-lt"/>
              <a:buAutoNum type="arabicPeriod"/>
            </a:pPr>
            <a:r>
              <a:rPr kumimoji="0" lang="en-US" altLang="en-US" sz="2500" b="0" i="0" u="none" strike="noStrike" cap="none" normalizeH="0" baseline="0" dirty="0">
                <a:ln>
                  <a:noFill/>
                </a:ln>
                <a:solidFill>
                  <a:schemeClr val="tx1"/>
                </a:solidFill>
                <a:effectLst/>
                <a:latin typeface="Arial" panose="020B0604020202020204" pitchFamily="34" charset="0"/>
              </a:rPr>
              <a:t>Repeat this process for each section: take a colored page as the index, add sticky notes, secure them with tape, and then label each tab properly. While labeling, write the document name along with the number of photocopies, clearly mentioning how many are colored and how many are black and white. If you are including original documents, make sure to note that as well.</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500" b="0" i="0" u="none" strike="noStrike" cap="none" normalizeH="0" baseline="0" dirty="0">
                <a:ln>
                  <a:noFill/>
                </a:ln>
                <a:solidFill>
                  <a:schemeClr val="tx1"/>
                </a:solidFill>
                <a:effectLst/>
                <a:latin typeface="Arial" panose="020B0604020202020204" pitchFamily="34" charset="0"/>
              </a:rPr>
              <a:t>Arrange everything in a sequence like this: first index page followed by its documents, then the second index page followed by its documents, and so on. This structure allows you to manage multiple sections neatly within the same folder without confusion.</a:t>
            </a:r>
          </a:p>
          <a:p>
            <a:pPr marL="0" lvl="0" indent="0" algn="just" eaLnBrk="0" fontAlgn="base" hangingPunct="0">
              <a:lnSpc>
                <a:spcPct val="100000"/>
              </a:lnSpc>
              <a:spcBef>
                <a:spcPct val="0"/>
              </a:spcBef>
              <a:spcAft>
                <a:spcPct val="0"/>
              </a:spcAft>
              <a:buNone/>
            </a:pPr>
            <a:r>
              <a:rPr lang="en-IN" sz="2500" b="1" dirty="0">
                <a:latin typeface="Constantia" panose="02030602050306030303" pitchFamily="18" charset="0"/>
              </a:rPr>
              <a:t>	Index Page → Documents → Next Index Page → Documents → ...</a:t>
            </a:r>
            <a:endParaRPr kumimoji="0" lang="en-US" altLang="en-US" sz="2500" b="1" i="0" u="none" strike="noStrike" cap="none" normalizeH="0" baseline="0" dirty="0">
              <a:ln>
                <a:noFill/>
              </a:ln>
              <a:solidFill>
                <a:schemeClr val="tx1"/>
              </a:solidFill>
              <a:effectLst/>
              <a:latin typeface="Constantia" panose="02030602050306030303" pitchFamily="18" charset="0"/>
            </a:endParaRPr>
          </a:p>
        </p:txBody>
      </p:sp>
    </p:spTree>
    <p:extLst>
      <p:ext uri="{BB962C8B-B14F-4D97-AF65-F5344CB8AC3E}">
        <p14:creationId xmlns:p14="http://schemas.microsoft.com/office/powerpoint/2010/main" val="1562855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F8DAF-2169-232F-011A-FE7600E83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E4B55-7ABA-69D4-18F3-995968BE1572}"/>
              </a:ext>
            </a:extLst>
          </p:cNvPr>
          <p:cNvSpPr>
            <a:spLocks noGrp="1"/>
          </p:cNvSpPr>
          <p:nvPr>
            <p:ph type="title"/>
          </p:nvPr>
        </p:nvSpPr>
        <p:spPr>
          <a:xfrm>
            <a:off x="848475" y="-148583"/>
            <a:ext cx="10515600" cy="1325563"/>
          </a:xfrm>
        </p:spPr>
        <p:txBody>
          <a:bodyPr/>
          <a:lstStyle/>
          <a:p>
            <a:pPr algn="ctr"/>
            <a:r>
              <a:rPr lang="en-IN" b="1" dirty="0"/>
              <a:t>Most Usage of a Single Folder</a:t>
            </a:r>
          </a:p>
        </p:txBody>
      </p:sp>
      <p:sp>
        <p:nvSpPr>
          <p:cNvPr id="4" name="Rectangle 2">
            <a:extLst>
              <a:ext uri="{FF2B5EF4-FFF2-40B4-BE49-F238E27FC236}">
                <a16:creationId xmlns:a16="http://schemas.microsoft.com/office/drawing/2014/main" id="{B1A67FB4-5E98-40E9-2353-B87BB7250643}"/>
              </a:ext>
            </a:extLst>
          </p:cNvPr>
          <p:cNvSpPr>
            <a:spLocks noGrp="1" noChangeArrowheads="1"/>
          </p:cNvSpPr>
          <p:nvPr>
            <p:ph idx="1"/>
          </p:nvPr>
        </p:nvSpPr>
        <p:spPr bwMode="auto">
          <a:xfrm>
            <a:off x="233916" y="727413"/>
            <a:ext cx="11797122" cy="6109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300" b="0" i="0" u="none" strike="noStrike" cap="none" normalizeH="0" baseline="0" dirty="0">
                <a:ln>
                  <a:noFill/>
                </a:ln>
                <a:solidFill>
                  <a:schemeClr val="tx1"/>
                </a:solidFill>
                <a:effectLst/>
                <a:latin typeface="Arial" panose="020B0604020202020204" pitchFamily="34" charset="0"/>
              </a:rPr>
              <a:t>I have also included </a:t>
            </a:r>
            <a:r>
              <a:rPr kumimoji="0" lang="en-US" altLang="en-US" sz="2300" b="1" i="0" u="none" strike="noStrike" cap="none" normalizeH="0" baseline="0" dirty="0">
                <a:ln>
                  <a:noFill/>
                </a:ln>
                <a:solidFill>
                  <a:schemeClr val="tx1"/>
                </a:solidFill>
                <a:effectLst/>
                <a:latin typeface="Arial" panose="020B0604020202020204" pitchFamily="34" charset="0"/>
              </a:rPr>
              <a:t>formats for both the index and the master index </a:t>
            </a:r>
            <a:r>
              <a:rPr kumimoji="0" lang="en-US" altLang="en-US" sz="2300" b="0" i="0" u="none" strike="noStrike" cap="none" normalizeH="0" baseline="0" dirty="0">
                <a:ln>
                  <a:noFill/>
                </a:ln>
                <a:solidFill>
                  <a:schemeClr val="tx1"/>
                </a:solidFill>
                <a:effectLst/>
                <a:latin typeface="Arial" panose="020B0604020202020204" pitchFamily="34" charset="0"/>
              </a:rPr>
              <a:t>in the directory. You can print these, fill them in, and attach sticky notes on the side corners in a zigzag pattern. This placement makes each section more visible and easier to access.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300" b="0" i="0" u="none" strike="noStrike" cap="none" normalizeH="0" baseline="0" dirty="0">
                <a:ln>
                  <a:noFill/>
                </a:ln>
                <a:solidFill>
                  <a:schemeClr val="tx1"/>
                </a:solidFill>
                <a:effectLst/>
                <a:latin typeface="Arial" panose="020B0604020202020204" pitchFamily="34" charset="0"/>
              </a:rPr>
              <a:t>Additionally, you can assign different colors to personal index pages (like the first or second index) so that they align with your overall color-coding system and make navigation more intuitive.</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300" b="0" i="0" u="none" strike="noStrike" cap="none" normalizeH="0" baseline="0" dirty="0">
                <a:ln>
                  <a:noFill/>
                </a:ln>
                <a:solidFill>
                  <a:schemeClr val="tx1"/>
                </a:solidFill>
                <a:effectLst/>
                <a:latin typeface="Arial" panose="020B0604020202020204" pitchFamily="34" charset="0"/>
              </a:rPr>
              <a:t>To keep everything manageable, try to limit each folder to a maximum of </a:t>
            </a:r>
            <a:r>
              <a:rPr kumimoji="0" lang="en-US" altLang="en-US" sz="2300" b="1" i="0" u="none" strike="noStrike" cap="none" normalizeH="0" baseline="0" dirty="0">
                <a:ln>
                  <a:noFill/>
                </a:ln>
                <a:solidFill>
                  <a:schemeClr val="tx1"/>
                </a:solidFill>
                <a:effectLst/>
                <a:latin typeface="Arial" panose="020B0604020202020204" pitchFamily="34" charset="0"/>
              </a:rPr>
              <a:t>five categories</a:t>
            </a:r>
            <a:r>
              <a:rPr kumimoji="0" lang="en-US" altLang="en-US" sz="2300" b="0" i="0" u="none" strike="noStrike" cap="none" normalizeH="0" baseline="0" dirty="0">
                <a:ln>
                  <a:noFill/>
                </a:ln>
                <a:solidFill>
                  <a:schemeClr val="tx1"/>
                </a:solidFill>
                <a:effectLst/>
                <a:latin typeface="Arial" panose="020B0604020202020204" pitchFamily="34" charset="0"/>
              </a:rPr>
              <a:t>. This also makes color coding much easier to follow and visually clear.</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300" b="0" i="0" u="none" strike="noStrike" cap="none" normalizeH="0" baseline="0" dirty="0">
                <a:ln>
                  <a:noFill/>
                </a:ln>
                <a:solidFill>
                  <a:schemeClr val="tx1"/>
                </a:solidFill>
                <a:effectLst/>
                <a:latin typeface="Arial" panose="020B0604020202020204" pitchFamily="34" charset="0"/>
              </a:rPr>
              <a:t>If you have more documents, you can maintain a separate master index for each folder. For example, you can list categories like “Vehicles” and assign it a color such as red, then “Degree” as blue, and continue similarly. This helps you track both the sequence and the color mapping at a glance.</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startAt="3"/>
              <a:tabLst/>
            </a:pPr>
            <a:r>
              <a:rPr kumimoji="0" lang="en-US" altLang="en-US" sz="2300" b="0" i="0" u="none" strike="noStrike" cap="none" normalizeH="0" baseline="0" dirty="0">
                <a:ln>
                  <a:noFill/>
                </a:ln>
                <a:solidFill>
                  <a:schemeClr val="tx1"/>
                </a:solidFill>
                <a:effectLst/>
                <a:latin typeface="Arial" panose="020B0604020202020204" pitchFamily="34" charset="0"/>
              </a:rPr>
              <a:t>You can also include this information in a main master index by listing folder categories sequentially. Alternatively, since the sticky notes are wide and laminated, you can quickly identify sections directly from the folder itself without always referring back to the index.</a:t>
            </a:r>
          </a:p>
        </p:txBody>
      </p:sp>
    </p:spTree>
    <p:extLst>
      <p:ext uri="{BB962C8B-B14F-4D97-AF65-F5344CB8AC3E}">
        <p14:creationId xmlns:p14="http://schemas.microsoft.com/office/powerpoint/2010/main" val="1666783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313BA-CEA4-E6C8-B221-3D91ECF54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B8234-9B62-2372-5BAB-3864FBF79C5F}"/>
              </a:ext>
            </a:extLst>
          </p:cNvPr>
          <p:cNvSpPr>
            <a:spLocks noGrp="1"/>
          </p:cNvSpPr>
          <p:nvPr>
            <p:ph type="title"/>
          </p:nvPr>
        </p:nvSpPr>
        <p:spPr>
          <a:xfrm>
            <a:off x="848475" y="-148583"/>
            <a:ext cx="10515600" cy="1325563"/>
          </a:xfrm>
        </p:spPr>
        <p:txBody>
          <a:bodyPr/>
          <a:lstStyle/>
          <a:p>
            <a:pPr algn="ctr"/>
            <a:r>
              <a:rPr lang="en-IN" b="1" dirty="0"/>
              <a:t>Colour Coding in a Single Folder</a:t>
            </a:r>
          </a:p>
        </p:txBody>
      </p:sp>
      <p:sp>
        <p:nvSpPr>
          <p:cNvPr id="4" name="Rectangle 2">
            <a:extLst>
              <a:ext uri="{FF2B5EF4-FFF2-40B4-BE49-F238E27FC236}">
                <a16:creationId xmlns:a16="http://schemas.microsoft.com/office/drawing/2014/main" id="{98A3DD00-4504-820D-E351-1F8147C7A2E3}"/>
              </a:ext>
            </a:extLst>
          </p:cNvPr>
          <p:cNvSpPr>
            <a:spLocks noGrp="1" noChangeArrowheads="1"/>
          </p:cNvSpPr>
          <p:nvPr>
            <p:ph idx="1"/>
          </p:nvPr>
        </p:nvSpPr>
        <p:spPr bwMode="auto">
          <a:xfrm>
            <a:off x="233916" y="935166"/>
            <a:ext cx="11797122"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lang="en-US" sz="2600" dirty="0">
                <a:latin typeface="Constantia" panose="02030602050306030303" pitchFamily="18" charset="0"/>
              </a:rPr>
              <a:t>Organize your folder by assigning colors to categories, for example red for identity documents and blue for medical records.</a:t>
            </a:r>
          </a:p>
          <a:p>
            <a:pPr algn="just" eaLnBrk="0" fontAlgn="base" hangingPunct="0">
              <a:lnSpc>
                <a:spcPct val="100000"/>
              </a:lnSpc>
              <a:spcBef>
                <a:spcPct val="0"/>
              </a:spcBef>
              <a:spcAft>
                <a:spcPct val="0"/>
              </a:spcAft>
            </a:pPr>
            <a:r>
              <a:rPr lang="en-US" sz="2600" dirty="0">
                <a:latin typeface="Constantia" panose="02030602050306030303" pitchFamily="18" charset="0"/>
              </a:rPr>
              <a:t>Create a personal master index page and list all categories with their color labels.</a:t>
            </a:r>
          </a:p>
          <a:p>
            <a:pPr algn="just" eaLnBrk="0" fontAlgn="base" hangingPunct="0">
              <a:lnSpc>
                <a:spcPct val="100000"/>
              </a:lnSpc>
              <a:spcBef>
                <a:spcPct val="0"/>
              </a:spcBef>
              <a:spcAft>
                <a:spcPct val="0"/>
              </a:spcAft>
            </a:pPr>
            <a:r>
              <a:rPr lang="en-US" sz="2600" dirty="0">
                <a:latin typeface="Constantia" panose="02030602050306030303" pitchFamily="18" charset="0"/>
              </a:rPr>
              <a:t>If you want subcategories like school IDs or college IDs, create a new index page in the same color (e.g., red) and label it as an index.</a:t>
            </a:r>
          </a:p>
          <a:p>
            <a:pPr algn="just" eaLnBrk="0" fontAlgn="base" hangingPunct="0">
              <a:lnSpc>
                <a:spcPct val="100000"/>
              </a:lnSpc>
              <a:spcBef>
                <a:spcPct val="0"/>
              </a:spcBef>
              <a:spcAft>
                <a:spcPct val="0"/>
              </a:spcAft>
            </a:pPr>
            <a:r>
              <a:rPr lang="en-US" sz="2600" dirty="0">
                <a:latin typeface="Constantia" panose="02030602050306030303" pitchFamily="18" charset="0"/>
              </a:rPr>
              <a:t>Keep the label placement and style consistent with the main category for clarity.</a:t>
            </a:r>
          </a:p>
          <a:p>
            <a:pPr algn="just" eaLnBrk="0" fontAlgn="base" hangingPunct="0">
              <a:lnSpc>
                <a:spcPct val="100000"/>
              </a:lnSpc>
              <a:spcBef>
                <a:spcPct val="0"/>
              </a:spcBef>
              <a:spcAft>
                <a:spcPct val="0"/>
              </a:spcAft>
            </a:pPr>
            <a:r>
              <a:rPr lang="en-US" sz="2600" dirty="0">
                <a:latin typeface="Constantia" panose="02030602050306030303" pitchFamily="18" charset="0"/>
              </a:rPr>
              <a:t>This system helps you expand categories easily while keeping everything organized.</a:t>
            </a:r>
          </a:p>
          <a:p>
            <a:pPr algn="just" eaLnBrk="0" fontAlgn="base" hangingPunct="0">
              <a:lnSpc>
                <a:spcPct val="100000"/>
              </a:lnSpc>
              <a:spcBef>
                <a:spcPct val="0"/>
              </a:spcBef>
              <a:spcAft>
                <a:spcPct val="0"/>
              </a:spcAft>
            </a:pPr>
            <a:r>
              <a:rPr lang="en-US" sz="2600" dirty="0">
                <a:latin typeface="Constantia" panose="02030602050306030303" pitchFamily="18" charset="0"/>
              </a:rPr>
              <a:t>The advantage is that once you see a color, you instantly recognize the category, like red for identity.</a:t>
            </a:r>
          </a:p>
          <a:p>
            <a:pPr algn="just" eaLnBrk="0" fontAlgn="base" hangingPunct="0">
              <a:lnSpc>
                <a:spcPct val="100000"/>
              </a:lnSpc>
              <a:spcBef>
                <a:spcPct val="0"/>
              </a:spcBef>
              <a:spcAft>
                <a:spcPct val="0"/>
              </a:spcAft>
            </a:pPr>
            <a:r>
              <a:rPr lang="en-US" sz="2600" dirty="0">
                <a:latin typeface="Constantia" panose="02030602050306030303" pitchFamily="18" charset="0"/>
              </a:rPr>
              <a:t>You can also include this information in both the outer index and the master index if needed.</a:t>
            </a:r>
            <a:endParaRPr lang="en-IN" sz="2600" dirty="0">
              <a:latin typeface="Constantia" panose="02030602050306030303" pitchFamily="18" charset="0"/>
            </a:endParaRPr>
          </a:p>
          <a:p>
            <a:pPr marL="0" indent="0" algn="just" eaLnBrk="0" fontAlgn="base" hangingPunct="0">
              <a:lnSpc>
                <a:spcPct val="100000"/>
              </a:lnSpc>
              <a:spcBef>
                <a:spcPct val="0"/>
              </a:spcBef>
              <a:spcAft>
                <a:spcPct val="0"/>
              </a:spcAft>
              <a:buNone/>
            </a:pPr>
            <a:r>
              <a:rPr lang="en-IN" sz="2600" b="1" dirty="0">
                <a:latin typeface="Constantia" panose="02030602050306030303" pitchFamily="18" charset="0"/>
              </a:rPr>
              <a:t>Index Page → Documents → Subcategory Index Page → Sub Category Documents → Next Index Page → Documents ...</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681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5905-71A1-3399-4245-7C8E9041D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E2663-AF8B-A5B0-3240-777192B80011}"/>
              </a:ext>
            </a:extLst>
          </p:cNvPr>
          <p:cNvSpPr>
            <a:spLocks noGrp="1"/>
          </p:cNvSpPr>
          <p:nvPr>
            <p:ph type="title"/>
          </p:nvPr>
        </p:nvSpPr>
        <p:spPr>
          <a:xfrm>
            <a:off x="848475" y="-148583"/>
            <a:ext cx="10515600" cy="1325563"/>
          </a:xfrm>
        </p:spPr>
        <p:txBody>
          <a:bodyPr/>
          <a:lstStyle/>
          <a:p>
            <a:pPr algn="ctr"/>
            <a:r>
              <a:rPr lang="en-IN" b="1" dirty="0"/>
              <a:t>Original Document Organization</a:t>
            </a:r>
          </a:p>
        </p:txBody>
      </p:sp>
      <p:graphicFrame>
        <p:nvGraphicFramePr>
          <p:cNvPr id="4" name="Content Placeholder 3">
            <a:extLst>
              <a:ext uri="{FF2B5EF4-FFF2-40B4-BE49-F238E27FC236}">
                <a16:creationId xmlns:a16="http://schemas.microsoft.com/office/drawing/2014/main" id="{7813A196-3082-0688-B4E9-00E6FFB3F3B6}"/>
              </a:ext>
            </a:extLst>
          </p:cNvPr>
          <p:cNvGraphicFramePr>
            <a:graphicFrameLocks noGrp="1"/>
          </p:cNvGraphicFramePr>
          <p:nvPr>
            <p:ph idx="1"/>
            <p:extLst>
              <p:ext uri="{D42A27DB-BD31-4B8C-83A1-F6EECF244321}">
                <p14:modId xmlns:p14="http://schemas.microsoft.com/office/powerpoint/2010/main" val="600299107"/>
              </p:ext>
            </p:extLst>
          </p:nvPr>
        </p:nvGraphicFramePr>
        <p:xfrm>
          <a:off x="215757" y="1130157"/>
          <a:ext cx="11702265" cy="557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0442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C732C2-91D3-AA31-1E74-5A70C1340EB5}"/>
              </a:ext>
            </a:extLst>
          </p:cNvPr>
          <p:cNvSpPr txBox="1"/>
          <p:nvPr/>
        </p:nvSpPr>
        <p:spPr>
          <a:xfrm>
            <a:off x="215757" y="143840"/>
            <a:ext cx="11784458" cy="6524863"/>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You can reach out to me for any guidance, suggestions, or help regarding this system:</a:t>
            </a:r>
          </a:p>
          <a:p>
            <a:pPr algn="just"/>
            <a:r>
              <a:rPr lang="en-US"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hlinkClick r:id="rId2"/>
              </a:rPr>
              <a:t>mailto:rawatmadhurima4@gmail.com</a:t>
            </a:r>
            <a:r>
              <a:rPr lang="en-US" sz="2200" dirty="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hlinkClick r:id="rId3"/>
              </a:rPr>
              <a:t>LinkedIn: Madhurima Rawat</a:t>
            </a:r>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If you’re looking for useful products, here are some recommendations:</a:t>
            </a:r>
          </a:p>
          <a:p>
            <a:pPr algn="just"/>
            <a:endParaRPr lang="en-US" sz="22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hlinkClick r:id="rId4"/>
              </a:rPr>
              <a:t>File with plastic sleeves </a:t>
            </a:r>
            <a:r>
              <a:rPr lang="en-US" sz="2200" dirty="0">
                <a:latin typeface="Times New Roman" panose="02020603050405020304" pitchFamily="18" charset="0"/>
                <a:cs typeface="Times New Roman" panose="02020603050405020304" pitchFamily="18" charset="0"/>
              </a:rPr>
              <a:t>- best for storing original documents</a:t>
            </a: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hlinkClick r:id="rId5"/>
              </a:rPr>
              <a:t>Card holder </a:t>
            </a:r>
            <a:r>
              <a:rPr lang="en-US" sz="2200" dirty="0">
                <a:latin typeface="Times New Roman" panose="02020603050405020304" pitchFamily="18" charset="0"/>
                <a:cs typeface="Times New Roman" panose="02020603050405020304" pitchFamily="18" charset="0"/>
              </a:rPr>
              <a:t>-  very useful and handy for ID cards</a:t>
            </a: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hlinkClick r:id="rId6"/>
              </a:rPr>
              <a:t>Clear bag / chic button folder </a:t>
            </a:r>
            <a:r>
              <a:rPr lang="en-US" sz="2200" dirty="0">
                <a:latin typeface="Times New Roman" panose="02020603050405020304" pitchFamily="18" charset="0"/>
                <a:cs typeface="Times New Roman" panose="02020603050405020304" pitchFamily="18" charset="0"/>
              </a:rPr>
              <a:t>- for general document storage</a:t>
            </a: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hlinkClick r:id="rId7"/>
              </a:rPr>
              <a:t>Clear zip folder</a:t>
            </a:r>
            <a:r>
              <a:rPr lang="en-US" sz="2200" dirty="0">
                <a:latin typeface="Times New Roman" panose="02020603050405020304" pitchFamily="18" charset="0"/>
                <a:cs typeface="Times New Roman" panose="02020603050405020304" pitchFamily="18" charset="0"/>
              </a:rPr>
              <a:t> - secure and easy to carry</a:t>
            </a: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hlinkClick r:id="rId8"/>
              </a:rPr>
              <a:t>Plastic expandable folder </a:t>
            </a:r>
            <a:r>
              <a:rPr lang="en-US" sz="2200" dirty="0">
                <a:latin typeface="Times New Roman" panose="02020603050405020304" pitchFamily="18" charset="0"/>
                <a:cs typeface="Times New Roman" panose="02020603050405020304" pitchFamily="18" charset="0"/>
              </a:rPr>
              <a:t>- ideal for organizing multiple documents</a:t>
            </a: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hlinkClick r:id="rId9"/>
              </a:rPr>
              <a:t>Plastic expandable professional folder </a:t>
            </a:r>
            <a:r>
              <a:rPr lang="en-US" sz="2200" dirty="0">
                <a:latin typeface="Times New Roman" panose="02020603050405020304" pitchFamily="18" charset="0"/>
                <a:cs typeface="Times New Roman" panose="02020603050405020304" pitchFamily="18" charset="0"/>
              </a:rPr>
              <a:t>- suitable for office use</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These product links are shared for general reference. You can check reviews before purchasing, or simply find similar options at your nearest stationery shop.</a:t>
            </a:r>
          </a:p>
          <a:p>
            <a:pPr algn="just"/>
            <a:r>
              <a:rPr lang="en-US" sz="2200" dirty="0">
                <a:latin typeface="Times New Roman" panose="02020603050405020304" pitchFamily="18" charset="0"/>
                <a:cs typeface="Times New Roman" panose="02020603050405020304" pitchFamily="18" charset="0"/>
              </a:rPr>
              <a:t>I have also included a slide containing the icons and labels as a separate PDF file, so it can be printed in high quality. I usually get all documents printed in PDF format, as it provides better clarity than image files. You can also convert it to any format of your choice directly from this PPT if needed.</a:t>
            </a:r>
          </a:p>
          <a:p>
            <a:pPr algn="just"/>
            <a:r>
              <a:rPr lang="en-US" sz="2200" b="1" dirty="0">
                <a:latin typeface="Times New Roman" panose="02020603050405020304" pitchFamily="18" charset="0"/>
                <a:cs typeface="Times New Roman" panose="02020603050405020304" pitchFamily="18" charset="0"/>
              </a:rPr>
              <a:t>If this helped you, do drop a ⭐ on my repository </a:t>
            </a:r>
            <a:r>
              <a:rPr lang="en-IN" sz="2200" dirty="0">
                <a:latin typeface="Times New Roman" panose="02020603050405020304" pitchFamily="18" charset="0"/>
                <a:cs typeface="Times New Roman" panose="02020603050405020304" pitchFamily="18" charset="0"/>
                <a:hlinkClick r:id="rId10"/>
              </a:rPr>
              <a:t>https://github.com/madhurimarawat/Essential-Templates-Kit</a:t>
            </a:r>
            <a:r>
              <a:rPr lang="en-US" sz="2200" b="1" dirty="0">
                <a:latin typeface="Times New Roman" panose="02020603050405020304" pitchFamily="18" charset="0"/>
                <a:cs typeface="Times New Roman" panose="02020603050405020304" pitchFamily="18" charset="0"/>
              </a:rPr>
              <a:t>, it would mean a lot! </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4229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1785</Words>
  <Application>Microsoft Office PowerPoint</Application>
  <PresentationFormat>Widescreen</PresentationFormat>
  <Paragraphs>99</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Constantia</vt:lpstr>
      <vt:lpstr>Times New Roman</vt:lpstr>
      <vt:lpstr>Office Theme</vt:lpstr>
      <vt:lpstr>Document and Folder Organization</vt:lpstr>
      <vt:lpstr>Index of Slides</vt:lpstr>
      <vt:lpstr>Icons and Labels</vt:lpstr>
      <vt:lpstr>PowerPoint Presentation</vt:lpstr>
      <vt:lpstr>Indexing</vt:lpstr>
      <vt:lpstr>Most Usage of a Single Folder</vt:lpstr>
      <vt:lpstr>Most Usage of a Single Folder</vt:lpstr>
      <vt:lpstr>Most Usage of a Single Folder</vt:lpstr>
      <vt:lpstr>Colour Coding in a Single Folder</vt:lpstr>
      <vt:lpstr>Original Document Organization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Madhurima Rawat</dc:creator>
  <cp:lastModifiedBy>Madhurima Rawat</cp:lastModifiedBy>
  <cp:revision>98</cp:revision>
  <dcterms:created xsi:type="dcterms:W3CDTF">2026-03-23T04:37:25Z</dcterms:created>
  <dcterms:modified xsi:type="dcterms:W3CDTF">2026-04-11T13:21:34Z</dcterms:modified>
</cp:coreProperties>
</file>